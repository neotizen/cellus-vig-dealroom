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6"/>
  </p:notesMasterIdLst>
  <p:sldIdLst>
    <p:sldId id="2319" r:id="rId2"/>
    <p:sldId id="2316" r:id="rId3"/>
    <p:sldId id="2320" r:id="rId4"/>
    <p:sldId id="2321" r:id="rId5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A4C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05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764" y="114"/>
      </p:cViewPr>
      <p:guideLst>
        <p:guide orient="horz" pos="2183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EAA16C-C6C5-4E4F-9032-A333B8D338BC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A49B3E-1DF1-41BC-BA23-070D1F2658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1985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9FB4-B4C9-4F58-824E-48881C686A04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82C59-91DF-4BC0-9583-99B0B5ECD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299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9FB4-B4C9-4F58-824E-48881C686A04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82C59-91DF-4BC0-9583-99B0B5ECD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168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9FB4-B4C9-4F58-824E-48881C686A04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82C59-91DF-4BC0-9583-99B0B5ECD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6597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9FB4-B4C9-4F58-824E-48881C686A04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82C59-91DF-4BC0-9583-99B0B5ECD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743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9FB4-B4C9-4F58-824E-48881C686A04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82C59-91DF-4BC0-9583-99B0B5ECD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9905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9FB4-B4C9-4F58-824E-48881C686A04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82C59-91DF-4BC0-9583-99B0B5ECD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308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9FB4-B4C9-4F58-824E-48881C686A04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82C59-91DF-4BC0-9583-99B0B5ECD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117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9FB4-B4C9-4F58-824E-48881C686A04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82C59-91DF-4BC0-9583-99B0B5ECD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0953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9FB4-B4C9-4F58-824E-48881C686A04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82C59-91DF-4BC0-9583-99B0B5ECD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385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9FB4-B4C9-4F58-824E-48881C686A04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82C59-91DF-4BC0-9583-99B0B5ECD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796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9FB4-B4C9-4F58-824E-48881C686A04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82C59-91DF-4BC0-9583-99B0B5ECD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22207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6">
            <a:extLst>
              <a:ext uri="{FF2B5EF4-FFF2-40B4-BE49-F238E27FC236}">
                <a16:creationId xmlns="" xmlns:a16="http://schemas.microsoft.com/office/drawing/2014/main" id="{33C6E8A9-925F-B9D2-88F8-606F6D64C8AC}"/>
              </a:ext>
            </a:extLst>
          </p:cNvPr>
          <p:cNvGrpSpPr/>
          <p:nvPr userDrawn="1"/>
        </p:nvGrpSpPr>
        <p:grpSpPr>
          <a:xfrm flipV="1">
            <a:off x="103824" y="500436"/>
            <a:ext cx="9699624" cy="52755"/>
            <a:chOff x="271681" y="520382"/>
            <a:chExt cx="8600638" cy="0"/>
          </a:xfrm>
        </p:grpSpPr>
        <p:cxnSp>
          <p:nvCxnSpPr>
            <p:cNvPr id="9" name="직선 연결선 8">
              <a:extLst>
                <a:ext uri="{FF2B5EF4-FFF2-40B4-BE49-F238E27FC236}">
                  <a16:creationId xmlns="" xmlns:a16="http://schemas.microsoft.com/office/drawing/2014/main" id="{8791B6F5-923F-87A6-D9A7-8B46691A138D}"/>
                </a:ext>
              </a:extLst>
            </p:cNvPr>
            <p:cNvCxnSpPr/>
            <p:nvPr/>
          </p:nvCxnSpPr>
          <p:spPr>
            <a:xfrm>
              <a:off x="271681" y="520382"/>
              <a:ext cx="4300319" cy="0"/>
            </a:xfrm>
            <a:prstGeom prst="line">
              <a:avLst/>
            </a:prstGeom>
            <a:ln w="44450" cmpd="thickThin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="" xmlns:a16="http://schemas.microsoft.com/office/drawing/2014/main" id="{FAD949DD-01C2-A64E-9571-0B04E5207C58}"/>
                </a:ext>
              </a:extLst>
            </p:cNvPr>
            <p:cNvCxnSpPr/>
            <p:nvPr/>
          </p:nvCxnSpPr>
          <p:spPr>
            <a:xfrm>
              <a:off x="4572000" y="520382"/>
              <a:ext cx="4300319" cy="0"/>
            </a:xfrm>
            <a:prstGeom prst="line">
              <a:avLst/>
            </a:prstGeom>
            <a:ln w="44450" cmpd="thickThin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ectangle 69"/>
          <p:cNvSpPr>
            <a:spLocks noChangeArrowheads="1"/>
          </p:cNvSpPr>
          <p:nvPr userDrawn="1"/>
        </p:nvSpPr>
        <p:spPr bwMode="auto">
          <a:xfrm>
            <a:off x="9194089" y="6579484"/>
            <a:ext cx="661943" cy="235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 anchorCtr="0"/>
          <a:lstStyle/>
          <a:p>
            <a:pPr algn="r">
              <a:defRPr/>
            </a:pPr>
            <a:r>
              <a:rPr lang="en-US" altLang="ko-KR" sz="7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[ </a:t>
            </a:r>
            <a:fld id="{7F8EB168-2C36-43C7-9A20-885AA2FD33D2}" type="slidenum">
              <a:rPr lang="en-US" altLang="ko-KR" sz="700" b="0" i="1">
                <a:solidFill>
                  <a:schemeClr val="tx1">
                    <a:lumMod val="50000"/>
                    <a:lumOff val="50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pPr algn="r">
                <a:defRPr/>
              </a:pPr>
              <a:t>‹#›</a:t>
            </a:fld>
            <a:r>
              <a:rPr lang="en-US" altLang="ko-KR" sz="7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</a:t>
            </a:r>
            <a:r>
              <a:rPr lang="en-US" altLang="ko-KR" sz="700" b="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]</a:t>
            </a:r>
            <a:endParaRPr lang="en-US" altLang="ko-KR" sz="700" b="0" i="1" dirty="0">
              <a:solidFill>
                <a:schemeClr val="tx1">
                  <a:lumMod val="50000"/>
                  <a:lumOff val="50000"/>
                </a:schemeClr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61211" y="58408"/>
            <a:ext cx="1161287" cy="41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190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3892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99FB4-B4C9-4F58-824E-48881C686A04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182C59-91DF-4BC0-9583-99B0B5ECD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155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79794" y="97047"/>
            <a:ext cx="6054305" cy="431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r>
              <a:rPr lang="en-US" altLang="ko-KR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lang="ko-KR" altLang="en-US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소송 및 압류 일지</a:t>
            </a:r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150217"/>
              </p:ext>
            </p:extLst>
          </p:nvPr>
        </p:nvGraphicFramePr>
        <p:xfrm>
          <a:off x="327803" y="744584"/>
          <a:ext cx="9247516" cy="58201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193"/>
                <a:gridCol w="2861454"/>
                <a:gridCol w="5212869"/>
              </a:tblGrid>
              <a:tr h="3450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일시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주요 사항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7227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2025-02-21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집행청구소송 패소</a:t>
                      </a:r>
                      <a:endParaRPr lang="en-US" altLang="ko-KR" sz="13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2022</a:t>
                      </a:r>
                      <a:r>
                        <a:rPr lang="ko-KR" altLang="en-US" sz="13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가합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111401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3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소송 </a:t>
                      </a:r>
                      <a:r>
                        <a:rPr lang="ko-KR" altLang="en-US" sz="13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산정액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USD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16,656,481.28 / 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약 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238</a:t>
                      </a:r>
                      <a:r>
                        <a:rPr lang="ko-KR" altLang="en-US" sz="13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27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2025-03-19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채권압류 및 전부명령</a:t>
                      </a:r>
                      <a:endParaRPr lang="en-US" altLang="ko-KR" sz="13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</a:t>
                      </a:r>
                      <a:r>
                        <a:rPr lang="ko-KR" altLang="en-US" sz="13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타채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15120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3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기업은행 등 총 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18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은행 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230</a:t>
                      </a:r>
                      <a:r>
                        <a:rPr lang="ko-KR" altLang="en-US" sz="13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endParaRPr lang="en-US" altLang="ko-KR" sz="13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3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3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집행액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2,009,686,221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27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2025-06-09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채권압류 및 전부명령</a:t>
                      </a:r>
                      <a:endParaRPr lang="en-US" altLang="ko-KR" sz="13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 2025</a:t>
                      </a:r>
                      <a:r>
                        <a:rPr lang="ko-KR" altLang="en-US" sz="13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타채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22002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3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기업은행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13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endParaRPr lang="ko-KR" altLang="en-US" sz="13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296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2025-06-09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주식 압류</a:t>
                      </a:r>
                      <a:endParaRPr lang="en-US" altLang="ko-KR" sz="13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 2025</a:t>
                      </a:r>
                      <a:r>
                        <a:rPr lang="ko-KR" altLang="en-US" sz="13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타채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22381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3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자회사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주식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압류</a:t>
                      </a:r>
                      <a:endParaRPr lang="en-US" altLang="ko-KR" sz="13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3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3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환경이엔지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주식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100</a:t>
                      </a:r>
                      <a:r>
                        <a:rPr lang="ko-KR" altLang="en-US" sz="13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291,900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</a:t>
                      </a:r>
                      <a:endParaRPr lang="en-US" altLang="ko-KR" sz="13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3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3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인스그린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주식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10</a:t>
                      </a:r>
                      <a:r>
                        <a:rPr lang="ko-KR" altLang="en-US" sz="13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30,623,332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27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2025-06-11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특허권 압류명령</a:t>
                      </a:r>
                      <a:endParaRPr lang="en-US" altLang="ko-KR" sz="13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 2025</a:t>
                      </a:r>
                      <a:r>
                        <a:rPr lang="ko-KR" altLang="en-US" sz="13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타채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22379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3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3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셀루메드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보유 특허 압류</a:t>
                      </a:r>
                      <a:endParaRPr lang="en-US" altLang="ko-KR" sz="13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27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2025-06-19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채권 과잉 이의 제기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자회사 주식 및 기업은행 </a:t>
                      </a:r>
                      <a:r>
                        <a:rPr lang="ko-KR" altLang="en-US" sz="13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압류건에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대한 이의 제기</a:t>
                      </a:r>
                      <a:endParaRPr lang="en-US" altLang="ko-KR" sz="13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3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3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판결액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이상의 과잉 압류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의견 제출</a:t>
                      </a:r>
                      <a:endParaRPr lang="en-US" altLang="ko-KR" sz="13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58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2025-07-08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주식 압류 항고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당사의 이의제기 기각으로 항고절차 개시</a:t>
                      </a:r>
                      <a:endParaRPr lang="en-US" altLang="ko-KR" sz="13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58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2025-07-03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채권 압류 항고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ko-KR" altLang="en-US" sz="13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당사의 이의제기 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기각으로 항고절차 개시</a:t>
                      </a:r>
                      <a:endParaRPr lang="en-US" altLang="ko-KR" sz="13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6777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79794" y="97047"/>
            <a:ext cx="6054305" cy="431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r>
              <a:rPr lang="en-US" altLang="ko-KR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lang="ko-KR" altLang="en-US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합의안 일지</a:t>
            </a:r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592172"/>
              </p:ext>
            </p:extLst>
          </p:nvPr>
        </p:nvGraphicFramePr>
        <p:xfrm>
          <a:off x="327801" y="744586"/>
          <a:ext cx="9247516" cy="5751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172"/>
                <a:gridCol w="3200400"/>
                <a:gridCol w="5011944"/>
              </a:tblGrid>
              <a:tr h="2879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일시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주요 사항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526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2025-02-25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법무법인 린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임재연 변호사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선임 및 미팅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합의안 논의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26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2025-03-05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임재연 변호사가 </a:t>
                      </a:r>
                      <a:r>
                        <a:rPr lang="ko-KR" altLang="en-US" sz="13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김장리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변호사와 미팅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3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김장리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원금 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170</a:t>
                      </a:r>
                      <a:r>
                        <a:rPr lang="ko-KR" altLang="en-US" sz="13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억원은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감액하지 않아야 설득 가능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26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2025-03-07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당사 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차 합의안 제시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8617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2025-03-19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채권자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3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뷰클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회신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백만 달러 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즉시 지급</a:t>
                      </a:r>
                      <a:endParaRPr lang="en-US" altLang="ko-KR" sz="13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80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 달러 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2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년간 분기단위 분할 지급</a:t>
                      </a:r>
                      <a:endParaRPr lang="en-US" altLang="ko-KR" sz="13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68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 달러 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3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인스코비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주식</a:t>
                      </a:r>
                      <a:endParaRPr lang="en-US" altLang="ko-KR" sz="13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26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2025-03-21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대표이사명의로 사과서신 발송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26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2025-04-04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당사 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차 합의안 제시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8617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2025-04-08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채권자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3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뷰클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회신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사과 서신은 감사</a:t>
                      </a:r>
                      <a:endParaRPr lang="en-US" altLang="ko-KR" sz="13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채권 상환의 의지와 의무가 부족</a:t>
                      </a:r>
                      <a:endParaRPr lang="en-US" altLang="ko-KR" sz="13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합리적인 안을 다시 제시할 것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26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2025-07-01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김대섭 변호사 선임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USD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10,000,000 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수준으로 합의 추진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26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2025-07-09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김대섭 변호사가 </a:t>
                      </a:r>
                      <a:r>
                        <a:rPr lang="ko-KR" altLang="en-US" sz="13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김장리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변호사와 미팅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26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2025-07-28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합의의사 확인 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채권자 측에서 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165</a:t>
                      </a:r>
                      <a:r>
                        <a:rPr lang="ko-KR" altLang="en-US" sz="13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수준의 합의 의사 표시 </a:t>
                      </a:r>
                      <a:endParaRPr lang="en-US" altLang="ko-KR" sz="13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6942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2025-08-18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합의서 체결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합의금액 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16,564,768,473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3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기압류액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2,064,768,473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13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18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일까지 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잔액 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(145</a:t>
                      </a:r>
                      <a:r>
                        <a:rPr lang="ko-KR" altLang="en-US" sz="13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현금 지급</a:t>
                      </a:r>
                      <a:endParaRPr lang="en-US" altLang="ko-KR" sz="13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3822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79794" y="97047"/>
            <a:ext cx="6054305" cy="431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r>
              <a:rPr lang="en-US" altLang="ko-KR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lang="ko-KR" altLang="en-US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합의안 일지</a:t>
            </a:r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939207"/>
              </p:ext>
            </p:extLst>
          </p:nvPr>
        </p:nvGraphicFramePr>
        <p:xfrm>
          <a:off x="319175" y="744586"/>
          <a:ext cx="9247516" cy="582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8467"/>
                <a:gridCol w="2260124"/>
                <a:gridCol w="5658925"/>
              </a:tblGrid>
              <a:tr h="2205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일시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주요 사항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27021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2025-10-30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합의서 수정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2025.11.17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까지 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75</a:t>
                      </a:r>
                      <a:r>
                        <a:rPr lang="ko-KR" altLang="en-US" sz="13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endParaRPr lang="en-US" altLang="ko-KR" sz="13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2026.02.27 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까지 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3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잔여액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지급</a:t>
                      </a:r>
                      <a:endParaRPr lang="en-US" altLang="ko-KR" sz="13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3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상기조건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3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미이행시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법률비용 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13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021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2025-11-14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합의서 수정</a:t>
                      </a: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합의금액 증가 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16,612,302,647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3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기압류액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2,112,302,647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2025.11.17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까지 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15</a:t>
                      </a:r>
                      <a:r>
                        <a:rPr lang="ko-KR" altLang="en-US" sz="13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endParaRPr lang="en-US" altLang="ko-KR" sz="13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2025.12.31 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까지 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60</a:t>
                      </a:r>
                      <a:r>
                        <a:rPr lang="ko-KR" altLang="en-US" sz="13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endParaRPr lang="en-US" altLang="ko-KR" sz="13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2026.02.27 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까지 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3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잔여액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지급</a:t>
                      </a:r>
                      <a:endParaRPr lang="en-US" altLang="ko-KR" sz="13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148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2025-12-22</a:t>
                      </a: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합의서 수정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합의금액 증가 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16,912,302,647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3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기압류액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2,112,302,647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2025.11.17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까지 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15</a:t>
                      </a:r>
                      <a:r>
                        <a:rPr lang="ko-KR" altLang="en-US" sz="13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지급 완료</a:t>
                      </a:r>
                      <a:endParaRPr lang="en-US" altLang="ko-KR" sz="13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2025.12.31 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까지 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33</a:t>
                      </a:r>
                      <a:r>
                        <a:rPr lang="ko-KR" altLang="en-US" sz="13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endParaRPr lang="en-US" altLang="ko-KR" sz="13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2026.02.27 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까지 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30</a:t>
                      </a:r>
                      <a:r>
                        <a:rPr lang="ko-KR" altLang="en-US" sz="13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endParaRPr lang="en-US" altLang="ko-KR" sz="13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2026.06.30 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까지 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3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잔여액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지급</a:t>
                      </a:r>
                      <a:endParaRPr lang="en-US" altLang="ko-KR" sz="13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2025-12-31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상환 미지급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2025.12.31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상환 미지급</a:t>
                      </a:r>
                      <a:endParaRPr lang="en-US" altLang="ko-KR" sz="13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148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2026-01-06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합의서 수정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합의금액 증가 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17,612,302,647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3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기압류액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2,112,302,647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2025.11.17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까지 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15</a:t>
                      </a:r>
                      <a:r>
                        <a:rPr lang="ko-KR" altLang="en-US" sz="13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지급 완료</a:t>
                      </a:r>
                      <a:endParaRPr lang="en-US" altLang="ko-KR" sz="13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2026.01.27 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까지 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40</a:t>
                      </a:r>
                      <a:r>
                        <a:rPr lang="ko-KR" altLang="en-US" sz="13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endParaRPr lang="en-US" altLang="ko-KR" sz="13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2026.02.27 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까지 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30</a:t>
                      </a:r>
                      <a:r>
                        <a:rPr lang="ko-KR" altLang="en-US" sz="13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endParaRPr lang="en-US" altLang="ko-KR" sz="13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2026.06.30 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까지 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3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잔여액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지급</a:t>
                      </a:r>
                      <a:endParaRPr lang="en-US" altLang="ko-KR" sz="13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0069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79794" y="97047"/>
            <a:ext cx="6054305" cy="431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r>
              <a:rPr lang="en-US" altLang="ko-KR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lang="ko-KR" altLang="en-US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합의안 일지</a:t>
            </a:r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739087"/>
              </p:ext>
            </p:extLst>
          </p:nvPr>
        </p:nvGraphicFramePr>
        <p:xfrm>
          <a:off x="319175" y="744586"/>
          <a:ext cx="9247516" cy="279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8467"/>
                <a:gridCol w="2260124"/>
                <a:gridCol w="5658925"/>
              </a:tblGrid>
              <a:tr h="2205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일시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주요 사항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27021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2026-01-27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일부 상환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2025.11.17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까지 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15</a:t>
                      </a:r>
                      <a:r>
                        <a:rPr lang="ko-KR" altLang="en-US" sz="13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지급 완료</a:t>
                      </a:r>
                      <a:endParaRPr lang="en-US" altLang="ko-KR" sz="13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2026.01.27 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까지 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40</a:t>
                      </a:r>
                      <a:r>
                        <a:rPr lang="ko-KR" altLang="en-US" sz="13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(30</a:t>
                      </a:r>
                      <a:r>
                        <a:rPr lang="ko-KR" altLang="en-US" sz="13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지급완료 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10</a:t>
                      </a:r>
                      <a:r>
                        <a:rPr lang="ko-KR" altLang="en-US" sz="13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미상환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2026.02.27 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까지 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30</a:t>
                      </a:r>
                      <a:r>
                        <a:rPr lang="ko-KR" altLang="en-US" sz="13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endParaRPr lang="en-US" altLang="ko-KR" sz="13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2026.06.30 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까지 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3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잔여액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지급</a:t>
                      </a:r>
                      <a:endParaRPr lang="en-US" altLang="ko-KR" sz="13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021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2026-02-27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월분 미상환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2025.11.17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까지 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15</a:t>
                      </a:r>
                      <a:r>
                        <a:rPr lang="ko-KR" altLang="en-US" sz="13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지급 완료</a:t>
                      </a:r>
                      <a:endParaRPr lang="en-US" altLang="ko-KR" sz="13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2026.01.27 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까지 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40</a:t>
                      </a:r>
                      <a:r>
                        <a:rPr lang="ko-KR" altLang="en-US" sz="13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(30</a:t>
                      </a:r>
                      <a:r>
                        <a:rPr lang="ko-KR" altLang="en-US" sz="13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지급완료 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10</a:t>
                      </a:r>
                      <a:r>
                        <a:rPr lang="ko-KR" altLang="en-US" sz="13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미상환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ko-KR" sz="13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2026.02.27 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까지 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30</a:t>
                      </a:r>
                      <a:r>
                        <a:rPr lang="ko-KR" altLang="en-US" sz="13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미상환</a:t>
                      </a:r>
                      <a:endParaRPr lang="en-US" altLang="ko-KR" sz="13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2026.06.30 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까지 </a:t>
                      </a:r>
                      <a:r>
                        <a:rPr lang="en-US" altLang="ko-KR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3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잔여액</a:t>
                      </a:r>
                      <a:r>
                        <a:rPr lang="ko-KR" altLang="en-US" sz="13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지급</a:t>
                      </a:r>
                      <a:endParaRPr lang="en-US" altLang="ko-KR" sz="13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3370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bg1">
              <a:lumMod val="75000"/>
            </a:schemeClr>
          </a:solidFill>
        </a:ln>
      </a:spPr>
      <a:bodyPr rtlCol="0" anchor="ctr"/>
      <a:lstStyle>
        <a:defPPr marL="171450" indent="-171450">
          <a:lnSpc>
            <a:spcPct val="150000"/>
          </a:lnSpc>
          <a:buFont typeface="Wingdings" panose="05000000000000000000" pitchFamily="2" charset="2"/>
          <a:buChar char="ü"/>
          <a:defRPr sz="1200" b="1" dirty="0" smtClean="0">
            <a:solidFill>
              <a:schemeClr val="tx1"/>
            </a:solidFill>
            <a:latin typeface="+mn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16776</TotalTime>
  <Words>493</Words>
  <Application>Microsoft Office PowerPoint</Application>
  <PresentationFormat>A4 용지(210x297mm)</PresentationFormat>
  <Paragraphs>123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HY중고딕</vt:lpstr>
      <vt:lpstr>HY헤드라인M</vt:lpstr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Young-ju Shim</dc:creator>
  <cp:lastModifiedBy>Cellumed</cp:lastModifiedBy>
  <cp:revision>1313</cp:revision>
  <cp:lastPrinted>2025-02-07T05:30:31Z</cp:lastPrinted>
  <dcterms:created xsi:type="dcterms:W3CDTF">2023-05-26T05:08:08Z</dcterms:created>
  <dcterms:modified xsi:type="dcterms:W3CDTF">2026-03-03T06:00:45Z</dcterms:modified>
</cp:coreProperties>
</file>