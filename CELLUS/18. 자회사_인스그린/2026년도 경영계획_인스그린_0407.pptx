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8"/>
  </p:notesMasterIdLst>
  <p:handoutMasterIdLst>
    <p:handoutMasterId r:id="rId9"/>
  </p:handoutMasterIdLst>
  <p:sldIdLst>
    <p:sldId id="646" r:id="rId2"/>
    <p:sldId id="444" r:id="rId3"/>
    <p:sldId id="647" r:id="rId4"/>
    <p:sldId id="648" r:id="rId5"/>
    <p:sldId id="650" r:id="rId6"/>
    <p:sldId id="649" r:id="rId7"/>
  </p:sldIdLst>
  <p:sldSz cx="9144000" cy="6858000" type="screen4x3"/>
  <p:notesSz cx="9939338" cy="6807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FF"/>
    <a:srgbClr val="3399FF"/>
    <a:srgbClr val="D6DCE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23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66" y="3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8130" cy="340742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8889" y="0"/>
            <a:ext cx="4308130" cy="340742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8AF0D343-83C0-4B86-8F5B-117A1E05040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66459"/>
            <a:ext cx="4308130" cy="34074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8889" y="6466459"/>
            <a:ext cx="4308130" cy="34074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9C7AA94A-CE4C-4EFB-B64F-63D88F694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767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8130" cy="340742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8889" y="0"/>
            <a:ext cx="4308130" cy="340742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C3EE4FBD-589E-4F35-BE4E-E36B082ACC0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40113" y="852488"/>
            <a:ext cx="3059112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471" y="3275687"/>
            <a:ext cx="7952399" cy="2680205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6459"/>
            <a:ext cx="4308130" cy="34074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8889" y="6466459"/>
            <a:ext cx="4308130" cy="34074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B609B40F-643E-4958-B718-A4A0C336B5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241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" t="1" r="792" b="14281"/>
          <a:stretch/>
        </p:blipFill>
        <p:spPr>
          <a:xfrm>
            <a:off x="609600" y="63444"/>
            <a:ext cx="8432801" cy="695684"/>
          </a:xfrm>
          <a:prstGeom prst="rect">
            <a:avLst/>
          </a:prstGeom>
        </p:spPr>
      </p:pic>
      <p:sp>
        <p:nvSpPr>
          <p:cNvPr id="9" name="양쪽 모서리가 둥근 사각형 8"/>
          <p:cNvSpPr/>
          <p:nvPr userDrawn="1"/>
        </p:nvSpPr>
        <p:spPr bwMode="auto">
          <a:xfrm rot="5400000">
            <a:off x="304924" y="-139881"/>
            <a:ext cx="680839" cy="1087489"/>
          </a:xfrm>
          <a:prstGeom prst="round2SameRect">
            <a:avLst>
              <a:gd name="adj1" fmla="val 46332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 w="603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10" name="Rectangle 69"/>
          <p:cNvSpPr>
            <a:spLocks noChangeArrowheads="1"/>
          </p:cNvSpPr>
          <p:nvPr userDrawn="1"/>
        </p:nvSpPr>
        <p:spPr bwMode="auto">
          <a:xfrm>
            <a:off x="8297258" y="6622510"/>
            <a:ext cx="8001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US" altLang="ko-KR" sz="700" dirty="0">
                <a:solidFill>
                  <a:prstClr val="black">
                    <a:lumMod val="50000"/>
                    <a:lumOff val="50000"/>
                  </a:prstClr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Verdana" panose="020B0604030504040204" pitchFamily="34" charset="0"/>
              </a:rPr>
              <a:t> [ </a:t>
            </a:r>
            <a:fld id="{81CF2A9D-6279-41FB-AD09-2C5C27EC6517}" type="slidenum">
              <a:rPr lang="en-US" altLang="ko-KR" sz="700" smtClean="0">
                <a:solidFill>
                  <a:prstClr val="black">
                    <a:lumMod val="50000"/>
                    <a:lumOff val="50000"/>
                  </a:prstClr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Verdana" panose="020B0604030504040204" pitchFamily="34" charset="0"/>
              </a:rPr>
              <a:pPr algn="r">
                <a:defRPr/>
              </a:pPr>
              <a:t>‹#›</a:t>
            </a:fld>
            <a:r>
              <a:rPr lang="en-US" altLang="ko-KR" sz="700" dirty="0">
                <a:solidFill>
                  <a:prstClr val="black">
                    <a:lumMod val="50000"/>
                    <a:lumOff val="50000"/>
                  </a:prstClr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Verdana" panose="020B0604030504040204" pitchFamily="34" charset="0"/>
              </a:rPr>
              <a:t> ]</a:t>
            </a:r>
          </a:p>
        </p:txBody>
      </p:sp>
    </p:spTree>
    <p:extLst>
      <p:ext uri="{BB962C8B-B14F-4D97-AF65-F5344CB8AC3E}">
        <p14:creationId xmlns:p14="http://schemas.microsoft.com/office/powerpoint/2010/main" val="280474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EEB1-DBC8-459D-A39F-FFB9B3D8D94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690A-F4D0-4E7C-96C0-EF00E22648A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68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EEB1-DBC8-459D-A39F-FFB9B3D8D94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690A-F4D0-4E7C-96C0-EF00E22648A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208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EEB1-DBC8-459D-A39F-FFB9B3D8D94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690A-F4D0-4E7C-96C0-EF00E22648A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83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DEEB1-DBC8-459D-A39F-FFB9B3D8D94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F690A-F4D0-4E7C-96C0-EF00E22648A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96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7" r:id="rId3"/>
    <p:sldLayoutId id="2147483678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D802EF5D-6CFE-441E-B833-540B27EC6D72}"/>
              </a:ext>
            </a:extLst>
          </p:cNvPr>
          <p:cNvSpPr/>
          <p:nvPr/>
        </p:nvSpPr>
        <p:spPr>
          <a:xfrm>
            <a:off x="284484" y="161194"/>
            <a:ext cx="677141" cy="471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01</a:t>
            </a:r>
            <a:endParaRPr lang="ko-KR" altLang="en-US" sz="2400" b="1" dirty="0">
              <a:solidFill>
                <a:prstClr val="black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9" name="직사각형 18">
            <a:extLst>
              <a:ext uri="{FF2B5EF4-FFF2-40B4-BE49-F238E27FC236}">
                <a16:creationId xmlns:a16="http://schemas.microsoft.com/office/drawing/2014/main" xmlns="" id="{A8956B2A-F643-1AAE-ECF5-10EF1FDDFEF9}"/>
              </a:ext>
            </a:extLst>
          </p:cNvPr>
          <p:cNvSpPr/>
          <p:nvPr/>
        </p:nvSpPr>
        <p:spPr>
          <a:xfrm>
            <a:off x="1330050" y="144155"/>
            <a:ext cx="5397997" cy="5075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GB" altLang="ko-KR" sz="2400" b="1" dirty="0">
                <a:solidFill>
                  <a:prstClr val="black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25</a:t>
            </a:r>
            <a:r>
              <a:rPr lang="ko-KR" altLang="en-US" sz="2400" b="1" dirty="0">
                <a:solidFill>
                  <a:prstClr val="black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경영실적 요약</a:t>
            </a:r>
          </a:p>
        </p:txBody>
      </p:sp>
      <p:sp>
        <p:nvSpPr>
          <p:cNvPr id="12" name="직사각형 39">
            <a:extLst>
              <a:ext uri="{FF2B5EF4-FFF2-40B4-BE49-F238E27FC236}">
                <a16:creationId xmlns:a16="http://schemas.microsoft.com/office/drawing/2014/main" xmlns="" id="{A7A96C92-301A-FA90-B4B2-28F7F6E0806A}"/>
              </a:ext>
            </a:extLst>
          </p:cNvPr>
          <p:cNvSpPr/>
          <p:nvPr/>
        </p:nvSpPr>
        <p:spPr>
          <a:xfrm>
            <a:off x="6408964" y="1515891"/>
            <a:ext cx="25802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0510" algn="r" fontAlgn="base">
              <a:lnSpc>
                <a:spcPct val="140000"/>
              </a:lnSpc>
            </a:pPr>
            <a:r>
              <a:rPr lang="en-US" altLang="ko-KR" sz="1000" b="1" kern="0" dirty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(</a:t>
            </a:r>
            <a:r>
              <a:rPr lang="ko-KR" altLang="en-US" sz="1000" b="1" kern="0" dirty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단위 </a:t>
            </a:r>
            <a:r>
              <a:rPr lang="en-US" altLang="ko-KR" sz="1000" b="1" kern="0" dirty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: </a:t>
            </a:r>
            <a:r>
              <a:rPr lang="ko-KR" altLang="en-US" sz="1000" b="1" kern="0" dirty="0" err="1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백만원</a:t>
            </a:r>
            <a:r>
              <a:rPr lang="en-US" altLang="ko-KR" sz="1000" b="1" kern="0" dirty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)</a:t>
            </a:r>
          </a:p>
        </p:txBody>
      </p:sp>
      <p:sp>
        <p:nvSpPr>
          <p:cNvPr id="16" name="직사각형 30">
            <a:extLst>
              <a:ext uri="{FF2B5EF4-FFF2-40B4-BE49-F238E27FC236}">
                <a16:creationId xmlns:a16="http://schemas.microsoft.com/office/drawing/2014/main" xmlns="" id="{53F94568-49D0-6A1D-A313-617DFF51499F}"/>
              </a:ext>
            </a:extLst>
          </p:cNvPr>
          <p:cNvSpPr/>
          <p:nvPr/>
        </p:nvSpPr>
        <p:spPr>
          <a:xfrm>
            <a:off x="193288" y="837430"/>
            <a:ext cx="8816223" cy="739558"/>
          </a:xfrm>
          <a:prstGeom prst="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 Box 100">
            <a:extLst>
              <a:ext uri="{FF2B5EF4-FFF2-40B4-BE49-F238E27FC236}">
                <a16:creationId xmlns:a16="http://schemas.microsoft.com/office/drawing/2014/main" xmlns="" id="{ECF67434-6330-7B46-4C8B-B7C5BD6B0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88" y="953085"/>
            <a:ext cx="88162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25</a:t>
            </a:r>
            <a:r>
              <a:rPr lang="ko-KR" altLang="en-US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년 인스그린 사업은 매출 </a:t>
            </a:r>
            <a:r>
              <a:rPr lang="en-US" altLang="ko-KR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132.6</a:t>
            </a:r>
            <a:r>
              <a:rPr lang="ko-KR" altLang="en-US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억원</a:t>
            </a:r>
            <a:r>
              <a:rPr lang="en-US" altLang="ko-KR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, </a:t>
            </a:r>
            <a:r>
              <a:rPr lang="ko-KR" altLang="en-US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영업이익 </a:t>
            </a:r>
            <a:r>
              <a:rPr lang="en-US" altLang="ko-KR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1.4</a:t>
            </a:r>
            <a:r>
              <a:rPr lang="ko-KR" altLang="en-US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억원</a:t>
            </a:r>
            <a:r>
              <a:rPr lang="en-US" altLang="ko-KR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(1.0%)</a:t>
            </a:r>
            <a:r>
              <a:rPr lang="ko-KR" altLang="en-US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으로 계획대비 매출 </a:t>
            </a:r>
            <a:r>
              <a:rPr lang="en-GB" altLang="ko-KR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117.4</a:t>
            </a:r>
            <a:r>
              <a:rPr lang="ko-KR" altLang="en-US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억원</a:t>
            </a:r>
            <a:r>
              <a:rPr lang="en-US" altLang="ko-KR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, </a:t>
            </a:r>
            <a:r>
              <a:rPr lang="ko-KR" altLang="en-US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영업이익 </a:t>
            </a:r>
            <a:r>
              <a:rPr lang="en-US" altLang="ko-KR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8.6</a:t>
            </a:r>
            <a:r>
              <a:rPr lang="ko-KR" altLang="en-US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억원 </a:t>
            </a:r>
            <a:r>
              <a:rPr lang="ko-KR" altLang="en-US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미달된 수치로 마감이 예상 됨</a:t>
            </a:r>
            <a:endParaRPr lang="en-US" altLang="ko-KR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9" name="직사각형 13">
            <a:extLst>
              <a:ext uri="{FF2B5EF4-FFF2-40B4-BE49-F238E27FC236}">
                <a16:creationId xmlns:a16="http://schemas.microsoft.com/office/drawing/2014/main" xmlns="" id="{00C9E253-F387-22B3-1B8F-D0DCF6E5C9B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 flipH="1">
            <a:off x="193286" y="4900246"/>
            <a:ext cx="8816223" cy="1884887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108000" rIns="72000" bIns="10800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  <a:spcBef>
                <a:spcPct val="20000"/>
              </a:spcBef>
            </a:pPr>
            <a:endParaRPr lang="en-US" altLang="ko-KR" sz="12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  <a:sym typeface="Wingdings" panose="05000000000000000000" pitchFamily="2" charset="2"/>
            </a:endParaRPr>
          </a:p>
        </p:txBody>
      </p:sp>
      <p:sp>
        <p:nvSpPr>
          <p:cNvPr id="20" name="AutoShape 44">
            <a:extLst>
              <a:ext uri="{FF2B5EF4-FFF2-40B4-BE49-F238E27FC236}">
                <a16:creationId xmlns:a16="http://schemas.microsoft.com/office/drawing/2014/main" xmlns="" id="{6A48DC1D-D5A3-4705-DF06-26E5AFFB1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923" y="4900246"/>
            <a:ext cx="8670625" cy="1813599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rIns="36000" anchor="t" anchorCtr="0"/>
          <a:lstStyle/>
          <a:p>
            <a:pPr marL="0" lvl="1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Bold" panose="00000800000000000000" pitchFamily="2" charset="-127"/>
              </a:rPr>
              <a:t>▲ 주요 이슈 </a:t>
            </a:r>
            <a:r>
              <a:rPr lang="en-US" altLang="ko-KR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Bold" panose="00000800000000000000" pitchFamily="2" charset="-127"/>
              </a:rPr>
              <a:t>세부내용</a:t>
            </a:r>
            <a:r>
              <a:rPr lang="en-US" altLang="ko-KR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)</a:t>
            </a:r>
          </a:p>
          <a:p>
            <a:pPr marL="176213" lvl="1" indent="-176213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buFontTx/>
              <a:buChar char="•"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1Q :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대장동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 공공도서관 공사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비산초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본관동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리모델링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 공사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,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향동초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 교실 증축공사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_Pro Medium" panose="00000600000000000000" pitchFamily="50" charset="-127"/>
              </a:rPr>
              <a:t>수원여고 화장실 개선공사 </a:t>
            </a:r>
            <a:endParaRPr lang="en-US" altLang="ko-KR" sz="1200" kern="0" dirty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176213" lvl="1" indent="-176213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buFontTx/>
              <a:buChar char="•"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2Q :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대장동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 공공도서관 공사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비산초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본관동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리모델링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 공사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</a:rPr>
              <a:t>23-A-00</a:t>
            </a:r>
            <a:r>
              <a:rPr lang="ko-KR" altLang="en-US" sz="1200" dirty="0">
                <a:solidFill>
                  <a:prstClr val="black"/>
                </a:solidFill>
              </a:rPr>
              <a:t>부대 기계공사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화성태안</a:t>
            </a:r>
            <a:r>
              <a:rPr lang="en-US" altLang="ko-KR" sz="1200" dirty="0">
                <a:solidFill>
                  <a:prstClr val="black"/>
                </a:solidFill>
              </a:rPr>
              <a:t> </a:t>
            </a:r>
            <a:r>
              <a:rPr lang="ko-KR" altLang="en-US" sz="1200" dirty="0">
                <a:solidFill>
                  <a:prstClr val="black"/>
                </a:solidFill>
              </a:rPr>
              <a:t>옥외기계설비공사 </a:t>
            </a:r>
            <a:r>
              <a:rPr lang="en-US" altLang="ko-KR" sz="1200" dirty="0">
                <a:solidFill>
                  <a:prstClr val="black"/>
                </a:solidFill>
              </a:rPr>
              <a:t> </a:t>
            </a:r>
          </a:p>
          <a:p>
            <a:pPr marL="176213" lvl="1" indent="-176213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buFontTx/>
              <a:buChar char="•"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3Q : </a:t>
            </a:r>
            <a:r>
              <a:rPr lang="ko-KR" altLang="en-US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농림축산검역본부 개방공간 조성공사 </a:t>
            </a:r>
            <a:r>
              <a:rPr lang="en-US" altLang="ko-KR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</a:rPr>
              <a:t>00</a:t>
            </a:r>
            <a:r>
              <a:rPr lang="ko-KR" altLang="en-US" sz="1200" dirty="0">
                <a:solidFill>
                  <a:prstClr val="black"/>
                </a:solidFill>
              </a:rPr>
              <a:t>부대 조종훈련장 오수처리시설공사</a:t>
            </a:r>
            <a:r>
              <a:rPr lang="en-US" altLang="ko-KR" sz="1200" dirty="0">
                <a:solidFill>
                  <a:prstClr val="black"/>
                </a:solidFill>
              </a:rPr>
              <a:t>,</a:t>
            </a:r>
            <a:r>
              <a:rPr lang="ko-KR" altLang="en-US" sz="1200" dirty="0">
                <a:solidFill>
                  <a:prstClr val="black"/>
                </a:solidFill>
              </a:rPr>
              <a:t> 화성태안</a:t>
            </a:r>
            <a:r>
              <a:rPr lang="en-US" altLang="ko-KR" sz="1200" dirty="0">
                <a:solidFill>
                  <a:prstClr val="black"/>
                </a:solidFill>
              </a:rPr>
              <a:t> </a:t>
            </a:r>
            <a:r>
              <a:rPr lang="ko-KR" altLang="en-US" sz="1200" dirty="0">
                <a:solidFill>
                  <a:prstClr val="black"/>
                </a:solidFill>
              </a:rPr>
              <a:t>옥외기계설비공사 </a:t>
            </a:r>
            <a:endParaRPr lang="en-US" altLang="ko-KR" sz="1200" kern="0" dirty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176213" lvl="1" indent="-176213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1200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4Q :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대장동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sym typeface="Wingdings" pitchFamily="2" charset="2"/>
              </a:rPr>
              <a:t> 공공도서관 공사 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화성태안</a:t>
            </a:r>
            <a:r>
              <a:rPr lang="en-US" altLang="ko-KR" sz="1200" dirty="0">
                <a:solidFill>
                  <a:prstClr val="black"/>
                </a:solidFill>
              </a:rPr>
              <a:t> </a:t>
            </a:r>
            <a:r>
              <a:rPr lang="ko-KR" altLang="en-US" sz="1200" dirty="0">
                <a:solidFill>
                  <a:prstClr val="black"/>
                </a:solidFill>
              </a:rPr>
              <a:t>옥외기계설비공사</a:t>
            </a:r>
            <a:r>
              <a:rPr lang="en-US" altLang="ko-KR" sz="1200" dirty="0">
                <a:solidFill>
                  <a:prstClr val="black"/>
                </a:solidFill>
              </a:rPr>
              <a:t>,</a:t>
            </a:r>
            <a:r>
              <a:rPr lang="ko-KR" altLang="en-US" sz="1200" dirty="0">
                <a:solidFill>
                  <a:prstClr val="black"/>
                </a:solidFill>
              </a:rPr>
              <a:t> 국립현대미술관 노후 공기조화기 교체공사 </a:t>
            </a:r>
            <a:endParaRPr lang="en-US" altLang="ko-KR" sz="1200" kern="0" dirty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176213" lvl="1" indent="-176213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altLang="ko-KR" sz="1200" b="1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 </a:t>
            </a:r>
            <a:r>
              <a:rPr lang="ko-KR" altLang="en-US" sz="1200" b="1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계획대비 </a:t>
            </a:r>
            <a:r>
              <a:rPr lang="en-US" altLang="ko-KR" sz="1200" b="1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52% </a:t>
            </a:r>
            <a:r>
              <a:rPr lang="ko-KR" altLang="en-US" sz="1200" b="1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수준에 그침</a:t>
            </a:r>
            <a:endParaRPr lang="en-GB" altLang="ko-KR" sz="1200" b="1" kern="0" dirty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0" lvl="1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</a:pPr>
            <a:r>
              <a:rPr lang="en-GB" altLang="ko-KR" sz="1200" b="1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     - </a:t>
            </a:r>
            <a:r>
              <a:rPr lang="ko-KR" altLang="en-US" sz="1200" b="1" kern="0" dirty="0" smtClea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공사수주계획 </a:t>
            </a:r>
            <a:r>
              <a:rPr lang="ko-KR" altLang="en-US" sz="1200" b="1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대비 실적 미비</a:t>
            </a:r>
            <a:r>
              <a:rPr lang="en-GB" altLang="ko-KR" sz="1200" b="1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b="1" kern="0" dirty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건설 및 환경부문 목표 미달</a:t>
            </a:r>
            <a:endParaRPr lang="en-US" altLang="ko-KR" sz="1200" kern="0" dirty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285750" indent="-285750">
              <a:lnSpc>
                <a:spcPts val="2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  <a:sym typeface="Wingdings" panose="05000000000000000000" pitchFamily="2" charset="2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057104"/>
              </p:ext>
            </p:extLst>
          </p:nvPr>
        </p:nvGraphicFramePr>
        <p:xfrm>
          <a:off x="193288" y="1827301"/>
          <a:ext cx="8816224" cy="2932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65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844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8103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8103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281039">
                  <a:extLst>
                    <a:ext uri="{9D8B030D-6E8A-4147-A177-3AD203B41FA5}">
                      <a16:colId xmlns="" xmlns:a16="http://schemas.microsoft.com/office/drawing/2014/main" val="429181131"/>
                    </a:ext>
                  </a:extLst>
                </a:gridCol>
                <a:gridCol w="128103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28103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4123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구 분</a:t>
                      </a:r>
                    </a:p>
                  </a:txBody>
                  <a:tcPr marL="72000" marR="72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2025</a:t>
                      </a:r>
                      <a:endParaRPr lang="en-US" altLang="ko-KR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5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달성률</a:t>
                      </a:r>
                      <a:endParaRPr lang="en-US" altLang="ko-KR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2026</a:t>
                      </a:r>
                      <a:endParaRPr lang="en-US" altLang="ko-KR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2025 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실적 대비</a:t>
                      </a:r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412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계획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(A)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실적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(B)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(B/A)*100</a:t>
                      </a:r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계획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(C)</a:t>
                      </a:r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증감액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(D)=(C-B)</a:t>
                      </a:r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증감률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(D/B)*100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99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매출 </a:t>
                      </a:r>
                      <a:r>
                        <a:rPr lang="ko-KR" altLang="en-US" sz="1200" b="1" i="0" u="none" strike="noStrike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계</a:t>
                      </a:r>
                      <a:endParaRPr lang="ko-KR" altLang="en-US" sz="12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9525" marB="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25,000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13,260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53%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16,110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2,850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21%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99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건설부문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9525" marB="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17,000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7,160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42%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12,000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4,840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68%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99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환경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/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위탁운영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9525" marB="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8,000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6,100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76%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4,110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(1,990</a:t>
                      </a:r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(32%)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80773462"/>
                  </a:ext>
                </a:extLst>
              </a:tr>
              <a:tr h="4099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영업이익</a:t>
                      </a:r>
                    </a:p>
                  </a:txBody>
                  <a:tcPr marL="72000" marR="72000" marT="9525" marB="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1,000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140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14%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510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370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264%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99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(%)</a:t>
                      </a:r>
                    </a:p>
                  </a:txBody>
                  <a:tcPr marL="72000" marR="72000" marT="9525" marB="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4.0%</a:t>
                      </a:r>
                      <a:endParaRPr lang="en-US" altLang="ko-KR" sz="12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1.0%</a:t>
                      </a:r>
                      <a:endParaRPr lang="en-US" altLang="ko-KR" sz="1200" b="0" i="1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(3.0%</a:t>
                      </a:r>
                      <a:r>
                        <a:rPr lang="en-GB" altLang="ko-KR" sz="1200" b="0" i="1" u="none" strike="noStrike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p)</a:t>
                      </a:r>
                      <a:endParaRPr lang="en-US" altLang="ko-KR" sz="1200" b="0" i="1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3.2%</a:t>
                      </a:r>
                      <a:endParaRPr lang="en-US" altLang="ko-KR" sz="12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2.2%p</a:t>
                      </a:r>
                      <a:endParaRPr lang="en-US" altLang="ko-KR" sz="1200" b="0" i="1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12053881"/>
                  </a:ext>
                </a:extLst>
              </a:tr>
            </a:tbl>
          </a:graphicData>
        </a:graphic>
      </p:graphicFrame>
      <p:sp>
        <p:nvSpPr>
          <p:cNvPr id="15" name="직사각형 15">
            <a:extLst>
              <a:ext uri="{FF2B5EF4-FFF2-40B4-BE49-F238E27FC236}">
                <a16:creationId xmlns:a16="http://schemas.microsoft.com/office/drawing/2014/main" xmlns="" id="{BD461702-EA09-9156-DBFF-7252EA9BF0A5}"/>
              </a:ext>
            </a:extLst>
          </p:cNvPr>
          <p:cNvSpPr/>
          <p:nvPr/>
        </p:nvSpPr>
        <p:spPr bwMode="auto">
          <a:xfrm>
            <a:off x="2603361" y="2250829"/>
            <a:ext cx="1265464" cy="2508742"/>
          </a:xfrm>
          <a:prstGeom prst="rect">
            <a:avLst/>
          </a:prstGeom>
          <a:noFill/>
          <a:ln w="38100">
            <a:solidFill>
              <a:srgbClr val="C00000"/>
            </a:solidFill>
            <a:prstDash val="solid"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kumimoji="1" lang="ko-KR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455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8EBAEF74-0F84-4318-B673-A6DC205D02B4}"/>
              </a:ext>
            </a:extLst>
          </p:cNvPr>
          <p:cNvSpPr/>
          <p:nvPr/>
        </p:nvSpPr>
        <p:spPr>
          <a:xfrm>
            <a:off x="284484" y="161194"/>
            <a:ext cx="677141" cy="471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02</a:t>
            </a:r>
            <a:endParaRPr kumimoji="0" lang="ko-KR" altLang="en-US" sz="2400" b="1" dirty="0">
              <a:solidFill>
                <a:schemeClr val="tx1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77A6397-9A18-D69D-F2D0-646C38FB6F5A}"/>
              </a:ext>
            </a:extLst>
          </p:cNvPr>
          <p:cNvSpPr txBox="1"/>
          <p:nvPr/>
        </p:nvSpPr>
        <p:spPr>
          <a:xfrm>
            <a:off x="1256372" y="214455"/>
            <a:ext cx="775314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2025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년 주요 진행사항</a:t>
            </a:r>
            <a:endParaRPr lang="en-US" altLang="ko-KR" sz="2400" b="1" dirty="0">
              <a:solidFill>
                <a:prstClr val="black">
                  <a:lumMod val="75000"/>
                  <a:lumOff val="25000"/>
                </a:prst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xmlns="" id="{443A3FF1-48C5-F44E-EF97-AA1DB8FBB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019157"/>
              </p:ext>
            </p:extLst>
          </p:nvPr>
        </p:nvGraphicFramePr>
        <p:xfrm>
          <a:off x="155356" y="830097"/>
          <a:ext cx="8854157" cy="6096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3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393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0393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7430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kumimoji="0" lang="ko-KR" alt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기간</a:t>
                      </a:r>
                      <a:endParaRPr kumimoji="0" lang="en-US" altLang="ko-KR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World돋움체_Pro Medium" panose="00000600000000000000" pitchFamily="50" charset="-127"/>
                        <a:ea typeface="KoPubWorld돋움체_Pro Medium" panose="00000600000000000000" pitchFamily="50" charset="-127"/>
                        <a:cs typeface="KoPubWorld돋움체_Pro Medium" panose="000006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kumimoji="0" lang="ko-KR" alt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내용 </a:t>
                      </a:r>
                      <a:endParaRPr kumimoji="0" lang="en-US" altLang="ko-KR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World돋움체_Pro Medium" panose="00000600000000000000" pitchFamily="50" charset="-127"/>
                        <a:ea typeface="KoPubWorld돋움체_Pro Medium" panose="00000600000000000000" pitchFamily="50" charset="-127"/>
                        <a:cs typeface="KoPubWorld돋움체_Pro Medium" panose="000006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kumimoji="0" lang="ko-KR" alt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결과</a:t>
                      </a:r>
                      <a:endParaRPr kumimoji="0" lang="en-US" altLang="ko-KR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World돋움체_Pro Medium" panose="00000600000000000000" pitchFamily="50" charset="-127"/>
                        <a:ea typeface="KoPubWorld돋움체_Pro Medium" panose="00000600000000000000" pitchFamily="50" charset="-127"/>
                        <a:cs typeface="KoPubWorld돋움체_Pro Medium" panose="000006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081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1Q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prstClr val="black"/>
                          </a:solidFill>
                        </a:rPr>
                        <a:t>▣  매출 </a:t>
                      </a:r>
                      <a:r>
                        <a:rPr lang="en-US" altLang="ko-KR" sz="1100" b="1" smtClean="0">
                          <a:solidFill>
                            <a:prstClr val="black"/>
                          </a:solidFill>
                        </a:rPr>
                        <a:t>– 34.6</a:t>
                      </a: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억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 </a:t>
                      </a:r>
                      <a:r>
                        <a:rPr lang="ko-KR" altLang="en-US" sz="1000" smtClean="0">
                          <a:solidFill>
                            <a:prstClr val="black"/>
                          </a:solidFill>
                        </a:rPr>
                        <a:t>대장지구</a:t>
                      </a:r>
                      <a:r>
                        <a:rPr lang="en-US" altLang="ko-KR" sz="1000" smtClean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ko-KR" altLang="en-US" sz="1000" smtClean="0">
                          <a:solidFill>
                            <a:prstClr val="black"/>
                          </a:solidFill>
                        </a:rPr>
                        <a:t>공공도서관</a:t>
                      </a:r>
                      <a:r>
                        <a:rPr lang="en-US" altLang="ko-KR" sz="1000" smtClean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ko-KR" altLang="en-US" sz="1000" smtClean="0">
                          <a:solidFill>
                            <a:prstClr val="black"/>
                          </a:solidFill>
                        </a:rPr>
                        <a:t>건립공사 </a:t>
                      </a:r>
                      <a:r>
                        <a:rPr lang="en-US" altLang="ko-KR" sz="1000" smtClean="0">
                          <a:solidFill>
                            <a:prstClr val="black"/>
                          </a:solidFill>
                        </a:rPr>
                        <a:t>4.6</a:t>
                      </a:r>
                      <a:r>
                        <a:rPr lang="ko-KR" altLang="en-US" sz="1000" smtClean="0">
                          <a:solidFill>
                            <a:prstClr val="black"/>
                          </a:solidFill>
                        </a:rPr>
                        <a:t>억</a:t>
                      </a:r>
                      <a:endParaRPr lang="en-US" altLang="ko-KR" sz="1000" smtClean="0">
                        <a:solidFill>
                          <a:prstClr val="black"/>
                        </a:solidFill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비산초 그린스마트스쿨 본관동 리모델링공사 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9.2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∙</a:t>
                      </a: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향동초 교실 증축공사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3.3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noProof="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∙</a:t>
                      </a: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수원여고 화장실 개선공사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4.4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noProof="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∙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KoPubWorld돋움체_Pro Medium" panose="00000600000000000000" pitchFamily="50" charset="-127"/>
                        </a:rPr>
                        <a:t>환경</a:t>
                      </a:r>
                      <a:r>
                        <a:rPr kumimoji="0" lang="en-US" altLang="ko-KR" sz="10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KoPubWorld돋움체_Pro Medium" panose="00000600000000000000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KoPubWorld돋움체_Pro Medium" panose="00000600000000000000" pitchFamily="50" charset="-127"/>
                        </a:rPr>
                        <a:t>위탁운영 </a:t>
                      </a:r>
                      <a:r>
                        <a:rPr kumimoji="0" lang="en-US" altLang="ko-KR" sz="10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KoPubWorld돋움체_Pro Medium" panose="00000600000000000000" pitchFamily="50" charset="-127"/>
                        </a:rPr>
                        <a:t>13.1</a:t>
                      </a:r>
                      <a:r>
                        <a:rPr kumimoji="0" lang="ko-KR" altLang="en-US" sz="10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KoPubWorld돋움체_Pro Medium" panose="00000600000000000000" pitchFamily="50" charset="-127"/>
                        </a:rPr>
                        <a:t>억 </a:t>
                      </a:r>
                      <a:r>
                        <a:rPr kumimoji="0" lang="en-US" altLang="ko-KR" sz="10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KoPubWorld돋움체_Pro Medium" panose="00000600000000000000" pitchFamily="50" charset="-127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KoPubWorld돋움체_Pro Medium" panose="00000600000000000000" pitchFamily="50" charset="-127"/>
                        </a:rPr>
                        <a:t>화성태안</a:t>
                      </a:r>
                      <a:r>
                        <a:rPr kumimoji="0" lang="en-US" altLang="ko-KR" sz="10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KoPubWorld돋움체_Pro Medium" panose="00000600000000000000" pitchFamily="50" charset="-127"/>
                        </a:rPr>
                        <a:t>, </a:t>
                      </a:r>
                      <a:r>
                        <a:rPr lang="en-US" altLang="ko-KR" sz="1000" smtClean="0">
                          <a:solidFill>
                            <a:prstClr val="black"/>
                          </a:solidFill>
                        </a:rPr>
                        <a:t>23-A-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부대  공사 등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000" b="0" i="0" u="none" strike="noStrike" kern="1200" cap="none" spc="0" normalizeH="0" baseline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KoPubWorld돋움체_Pro Medium" panose="000006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▣  </a:t>
                      </a:r>
                      <a:r>
                        <a:rPr lang="ko-KR" altLang="en-US" sz="1100" b="1" dirty="0" smtClean="0">
                          <a:solidFill>
                            <a:prstClr val="black"/>
                          </a:solidFill>
                        </a:rPr>
                        <a:t>설계변경 </a:t>
                      </a:r>
                      <a:r>
                        <a:rPr lang="en-US" altLang="ko-KR" sz="1100" b="1" dirty="0" smtClean="0">
                          <a:solidFill>
                            <a:prstClr val="black"/>
                          </a:solidFill>
                        </a:rPr>
                        <a:t>– 7</a:t>
                      </a:r>
                      <a:r>
                        <a:rPr lang="ko-KR" altLang="en-US" sz="1100" b="1" dirty="0" smtClean="0">
                          <a:solidFill>
                            <a:prstClr val="black"/>
                          </a:solidFill>
                        </a:rPr>
                        <a:t>억</a:t>
                      </a:r>
                      <a:endParaRPr lang="en-US" altLang="ko-KR" sz="1100" b="1" dirty="0" smtClean="0">
                        <a:solidFill>
                          <a:prstClr val="black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∙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대장지구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공공도서관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건립공사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(24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50" dirty="0" smtClean="0">
                        <a:solidFill>
                          <a:prstClr val="black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50" dirty="0" smtClean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871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2Q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prstClr val="black"/>
                          </a:solidFill>
                        </a:rPr>
                        <a:t>▣ </a:t>
                      </a:r>
                      <a:r>
                        <a:rPr lang="ko-KR" altLang="en-US" sz="1100" b="1" baseline="0" dirty="0" smtClean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매출 </a:t>
                      </a:r>
                      <a:r>
                        <a:rPr lang="en-US" altLang="ko-KR" sz="1100" b="1" smtClean="0">
                          <a:solidFill>
                            <a:prstClr val="black"/>
                          </a:solidFill>
                        </a:rPr>
                        <a:t>–31.4</a:t>
                      </a: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억</a:t>
                      </a:r>
                      <a:endParaRPr lang="en-US" altLang="ko-KR" sz="1100" b="1" dirty="0" smtClean="0">
                        <a:solidFill>
                          <a:prstClr val="black"/>
                        </a:solidFill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대장지구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공공도서관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건립공사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7.9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dirty="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비산초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 그린스마트스쿨 </a:t>
                      </a:r>
                      <a:r>
                        <a:rPr lang="ko-KR" altLang="en-US" sz="1000" kern="1200" dirty="0" err="1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본관동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ko-KR" altLang="en-US" sz="1000" kern="1200" err="1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리모델링공사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5.7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∙</a:t>
                      </a: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향동초 교실 증축공사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∙</a:t>
                      </a: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수원여고 화장실 개선공사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1.3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∙</a:t>
                      </a: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환경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위탁운영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15.3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화성태안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, 23-A-00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부대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조종훈련장 공사 등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prstClr val="black"/>
                          </a:solidFill>
                        </a:rPr>
                        <a:t>▣  설계변경 </a:t>
                      </a:r>
                      <a:r>
                        <a:rPr lang="en-US" altLang="ko-KR" sz="1100" b="1" smtClean="0">
                          <a:solidFill>
                            <a:prstClr val="black"/>
                          </a:solidFill>
                        </a:rPr>
                        <a:t>– 6.6</a:t>
                      </a: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억</a:t>
                      </a:r>
                      <a:endParaRPr lang="en-US" altLang="ko-KR" sz="1100" b="1" dirty="0" smtClean="0">
                        <a:solidFill>
                          <a:prstClr val="black"/>
                        </a:solidFill>
                      </a:endParaRPr>
                    </a:p>
                    <a:p>
                      <a:pPr lvl="0" defTabSz="457200" latinLnBrk="0">
                        <a:lnSpc>
                          <a:spcPct val="8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∙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비산초 그린스마트스쿨 리모델링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6.6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(25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vl="0" defTabSz="457200" latinLnBrk="0">
                        <a:lnSpc>
                          <a:spcPct val="80000"/>
                        </a:lnSpc>
                        <a:spcAft>
                          <a:spcPts val="600"/>
                        </a:spcAft>
                        <a:defRPr/>
                      </a:pP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defTabSz="457200" latinLnBrk="0">
                        <a:lnSpc>
                          <a:spcPct val="80000"/>
                        </a:lnSpc>
                        <a:spcAft>
                          <a:spcPts val="600"/>
                        </a:spcAft>
                        <a:defRPr/>
                      </a:pP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defTabSz="457200" latinLnBrk="0">
                        <a:lnSpc>
                          <a:spcPct val="80000"/>
                        </a:lnSpc>
                        <a:spcAft>
                          <a:spcPts val="600"/>
                        </a:spcAft>
                        <a:defRPr/>
                      </a:pP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defTabSz="457200" latinLnBrk="0">
                        <a:lnSpc>
                          <a:spcPct val="80000"/>
                        </a:lnSpc>
                        <a:spcAft>
                          <a:spcPts val="600"/>
                        </a:spcAft>
                        <a:defRPr/>
                      </a:pP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3183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3Q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▣ </a:t>
                      </a:r>
                      <a:r>
                        <a:rPr lang="ko-KR" altLang="en-US" sz="1100" b="1" baseline="0" smtClean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매출 </a:t>
                      </a:r>
                      <a:r>
                        <a:rPr lang="en-US" altLang="ko-KR" sz="1100" b="1" smtClean="0">
                          <a:solidFill>
                            <a:prstClr val="black"/>
                          </a:solidFill>
                        </a:rPr>
                        <a:t>–</a:t>
                      </a: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en-US" altLang="ko-KR" sz="1100" b="1" smtClean="0">
                          <a:solidFill>
                            <a:prstClr val="black"/>
                          </a:solidFill>
                        </a:rPr>
                        <a:t>35.4</a:t>
                      </a: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억</a:t>
                      </a:r>
                      <a:endParaRPr lang="en-US" altLang="ko-KR" sz="1100" b="1" dirty="0" smtClean="0">
                        <a:solidFill>
                          <a:prstClr val="black"/>
                        </a:solidFill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대장지구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공공도서관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건립공사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8.2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dirty="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비산초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 그린스마트스쿨 </a:t>
                      </a:r>
                      <a:r>
                        <a:rPr lang="ko-KR" altLang="en-US" sz="1000" kern="1200" dirty="0" err="1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본관동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ko-KR" altLang="en-US" sz="1000" kern="1200" err="1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리모델링공사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8.6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∙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농림축산검역본부 개방공간 조성공사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∙</a:t>
                      </a:r>
                      <a:r>
                        <a:rPr lang="en-US" altLang="ko-KR" sz="1000" kern="120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환경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위탁운영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17.5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화성태안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smtClean="0">
                          <a:solidFill>
                            <a:prstClr val="black"/>
                          </a:solidFill>
                        </a:rPr>
                        <a:t>23-A-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부대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조종훈련장 공사 등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prstClr val="black"/>
                          </a:solidFill>
                        </a:rPr>
                        <a:t>▣  수주 </a:t>
                      </a:r>
                      <a:r>
                        <a:rPr lang="en-US" altLang="ko-KR" sz="1100" b="1" smtClean="0">
                          <a:solidFill>
                            <a:prstClr val="black"/>
                          </a:solidFill>
                        </a:rPr>
                        <a:t>– 8.5</a:t>
                      </a: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억</a:t>
                      </a:r>
                      <a:endParaRPr lang="en-US" altLang="ko-KR" sz="1100" b="1" dirty="0" smtClean="0">
                        <a:solidFill>
                          <a:prstClr val="black"/>
                        </a:solidFill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농림축산 검역본부 개방공간 조성공사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7.4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dirty="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비산초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 그린스마트스쿨 </a:t>
                      </a:r>
                      <a:r>
                        <a:rPr lang="ko-KR" altLang="en-US" sz="1000" kern="1200" dirty="0" err="1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리모델링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0.4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설계변경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, 25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00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부대 조종훈련장 오수처리시설공사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0.2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설계변경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23-A-00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부대 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기계공사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설계변경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화성태안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3 B3BL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옥외기계설비공사 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0.16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설계변경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486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4Q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▣  매출 </a:t>
                      </a:r>
                      <a:r>
                        <a:rPr lang="en-US" altLang="ko-KR" sz="1100" b="1" smtClean="0">
                          <a:solidFill>
                            <a:prstClr val="black"/>
                          </a:solidFill>
                        </a:rPr>
                        <a:t>–</a:t>
                      </a: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en-US" altLang="ko-KR" sz="1100" b="1" smtClean="0">
                          <a:solidFill>
                            <a:prstClr val="black"/>
                          </a:solidFill>
                        </a:rPr>
                        <a:t>28.1</a:t>
                      </a:r>
                      <a:r>
                        <a:rPr lang="ko-KR" altLang="en-US" sz="1100" b="1" smtClean="0">
                          <a:solidFill>
                            <a:prstClr val="black"/>
                          </a:solidFill>
                        </a:rPr>
                        <a:t>억</a:t>
                      </a:r>
                      <a:endParaRPr lang="en-US" altLang="ko-KR" sz="1100" b="1" dirty="0" smtClean="0">
                        <a:solidFill>
                          <a:prstClr val="black"/>
                        </a:solidFill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대장지구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공공도서관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건립공사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7.6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dirty="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defTabSz="457200" latinLnBrk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농림축산검역본부 개방공간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조성공사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1.8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 </a:t>
                      </a: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환경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위탁운영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18.7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화성태안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smtClean="0">
                          <a:solidFill>
                            <a:prstClr val="black"/>
                          </a:solidFill>
                        </a:rPr>
                        <a:t>23-A-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부대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현대미술관 공사 등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prstClr val="black"/>
                          </a:solidFill>
                        </a:rPr>
                        <a:t>▣  수주 </a:t>
                      </a:r>
                      <a:r>
                        <a:rPr lang="en-US" altLang="ko-KR" sz="1100" b="1" dirty="0" smtClean="0">
                          <a:solidFill>
                            <a:prstClr val="black"/>
                          </a:solidFill>
                        </a:rPr>
                        <a:t>– 1.4</a:t>
                      </a:r>
                      <a:r>
                        <a:rPr lang="ko-KR" altLang="en-US" sz="1100" b="1" dirty="0" smtClean="0">
                          <a:solidFill>
                            <a:prstClr val="black"/>
                          </a:solidFill>
                        </a:rPr>
                        <a:t>억</a:t>
                      </a:r>
                      <a:endParaRPr lang="en-US" altLang="ko-KR" sz="1100" b="1" dirty="0" smtClean="0">
                        <a:solidFill>
                          <a:prstClr val="black"/>
                        </a:solidFill>
                      </a:endParaRPr>
                    </a:p>
                    <a:p>
                      <a:pPr lvl="0" defTabSz="457200" latinLnBrk="0">
                        <a:lnSpc>
                          <a:spcPct val="8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050" dirty="0" smtClean="0">
                          <a:solidFill>
                            <a:prstClr val="black"/>
                          </a:solidFill>
                          <a:sym typeface="Wingdings" pitchFamily="2" charset="2"/>
                        </a:rPr>
                        <a:t>  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∙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장호원고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000" kern="1200" dirty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동 내진보강공사 </a:t>
                      </a:r>
                      <a:r>
                        <a:rPr lang="en-US" altLang="ko-KR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  <a:r>
                        <a:rPr lang="ko-KR" altLang="en-US" sz="1000" kern="120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en-US" altLang="ko-KR" sz="1000" kern="120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defTabSz="457200" latinLnBrk="0">
                        <a:lnSpc>
                          <a:spcPct val="80000"/>
                        </a:lnSpc>
                        <a:spcAft>
                          <a:spcPts val="600"/>
                        </a:spcAft>
                        <a:defRPr/>
                      </a:pPr>
                      <a:endParaRPr lang="en-US" altLang="ko-KR" sz="1000" kern="1200" dirty="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defTabSz="457200" latinLnBrk="0">
                        <a:lnSpc>
                          <a:spcPct val="80000"/>
                        </a:lnSpc>
                        <a:spcAft>
                          <a:spcPts val="600"/>
                        </a:spcAft>
                        <a:defRPr/>
                      </a:pPr>
                      <a:endParaRPr lang="en-US" altLang="ko-KR" sz="1050" b="1" dirty="0" smtClean="0">
                        <a:solidFill>
                          <a:prstClr val="black"/>
                        </a:solidFill>
                      </a:endParaRPr>
                    </a:p>
                    <a:p>
                      <a:pPr lvl="0" defTabSz="457200" latinLnBrk="0">
                        <a:lnSpc>
                          <a:spcPct val="80000"/>
                        </a:lnSpc>
                        <a:spcAft>
                          <a:spcPts val="600"/>
                        </a:spcAft>
                        <a:defRPr/>
                      </a:pPr>
                      <a:endParaRPr lang="en-US" altLang="ko-KR" sz="1100" b="1" dirty="0" smtClean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59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E37123AA-934E-4C34-8A79-0F20C4E0985B}"/>
              </a:ext>
            </a:extLst>
          </p:cNvPr>
          <p:cNvSpPr/>
          <p:nvPr/>
        </p:nvSpPr>
        <p:spPr>
          <a:xfrm>
            <a:off x="284484" y="161194"/>
            <a:ext cx="677141" cy="471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03</a:t>
            </a:r>
            <a:endParaRPr lang="ko-KR" altLang="en-US" sz="2400" b="1" dirty="0">
              <a:solidFill>
                <a:prstClr val="black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2" name="직사각형 9">
            <a:extLst>
              <a:ext uri="{FF2B5EF4-FFF2-40B4-BE49-F238E27FC236}">
                <a16:creationId xmlns:a16="http://schemas.microsoft.com/office/drawing/2014/main" xmlns="" id="{06A39994-A526-B911-7A50-39FE91B1B486}"/>
              </a:ext>
            </a:extLst>
          </p:cNvPr>
          <p:cNvSpPr/>
          <p:nvPr/>
        </p:nvSpPr>
        <p:spPr>
          <a:xfrm>
            <a:off x="1317350" y="144155"/>
            <a:ext cx="5397997" cy="5075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altLang="ko-KR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2026</a:t>
            </a:r>
            <a:r>
              <a:rPr lang="ko-KR" altLang="en-US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년</a:t>
            </a:r>
            <a:r>
              <a:rPr lang="en-US" altLang="ko-KR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ko-KR" altLang="en-US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경영계획 </a:t>
            </a:r>
            <a:r>
              <a:rPr lang="en-US" altLang="ko-KR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</a:t>
            </a:r>
            <a:r>
              <a:rPr lang="ko-KR" altLang="en-US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분기별</a:t>
            </a:r>
            <a:r>
              <a:rPr lang="en-US" altLang="ko-KR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)</a:t>
            </a:r>
            <a:endParaRPr lang="ko-KR" altLang="en-US" sz="2400" b="1" dirty="0">
              <a:solidFill>
                <a:prstClr val="black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9" name="직사각형 30">
            <a:extLst>
              <a:ext uri="{FF2B5EF4-FFF2-40B4-BE49-F238E27FC236}">
                <a16:creationId xmlns:a16="http://schemas.microsoft.com/office/drawing/2014/main" xmlns="" id="{94F49992-3840-C541-8C0E-7B018D90CCE6}"/>
              </a:ext>
            </a:extLst>
          </p:cNvPr>
          <p:cNvSpPr/>
          <p:nvPr/>
        </p:nvSpPr>
        <p:spPr>
          <a:xfrm>
            <a:off x="193288" y="837430"/>
            <a:ext cx="8816223" cy="606157"/>
          </a:xfrm>
          <a:prstGeom prst="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직사각형 39">
            <a:extLst>
              <a:ext uri="{FF2B5EF4-FFF2-40B4-BE49-F238E27FC236}">
                <a16:creationId xmlns:a16="http://schemas.microsoft.com/office/drawing/2014/main" xmlns="" id="{98C524CC-68FB-297C-EC05-05DABD409677}"/>
              </a:ext>
            </a:extLst>
          </p:cNvPr>
          <p:cNvSpPr/>
          <p:nvPr/>
        </p:nvSpPr>
        <p:spPr>
          <a:xfrm>
            <a:off x="6212966" y="1382795"/>
            <a:ext cx="2868507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0510" algn="r" fontAlgn="base">
              <a:lnSpc>
                <a:spcPct val="14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(</a:t>
            </a:r>
            <a:r>
              <a:rPr lang="ko-KR" altLang="en-US" sz="1000" kern="0" dirty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단위 </a:t>
            </a:r>
            <a:r>
              <a:rPr lang="en-US" altLang="ko-KR" sz="1000" kern="0" dirty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: </a:t>
            </a:r>
            <a:r>
              <a:rPr lang="ko-KR" altLang="en-US" sz="1000" kern="0" dirty="0" err="1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백만원</a:t>
            </a:r>
            <a:r>
              <a:rPr lang="en-US" altLang="ko-KR" sz="1000" kern="0" dirty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)</a:t>
            </a:r>
          </a:p>
        </p:txBody>
      </p:sp>
      <p:graphicFrame>
        <p:nvGraphicFramePr>
          <p:cNvPr id="20" name="표 11">
            <a:extLst>
              <a:ext uri="{FF2B5EF4-FFF2-40B4-BE49-F238E27FC236}">
                <a16:creationId xmlns:a16="http://schemas.microsoft.com/office/drawing/2014/main" xmlns="" id="{24E5AC97-D787-DA5A-187C-003E7923C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71800"/>
              </p:ext>
            </p:extLst>
          </p:nvPr>
        </p:nvGraphicFramePr>
        <p:xfrm>
          <a:off x="193288" y="1631235"/>
          <a:ext cx="8816229" cy="2599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24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xmlns="" val="42918113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xmlns="" val="4256106290"/>
                    </a:ext>
                  </a:extLst>
                </a:gridCol>
                <a:gridCol w="123711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065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구 분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2025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2026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KoPubWorld돋움체_Pro Medium" panose="00000600000000000000" pitchFamily="50" charset="-127"/>
                        <a:ea typeface="KoPubWorld돋움체_Pro Medium" panose="00000600000000000000" pitchFamily="50" charset="-127"/>
                        <a:cs typeface="KoPubWorld돋움체_Pro Medium" panose="00000600000000000000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bg1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065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smtClean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실적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KoPubWorld돋움체_Pro Medium" panose="00000600000000000000" pitchFamily="50" charset="-127"/>
                        <a:ea typeface="KoPubWorld돋움체_Pro Medium" panose="00000600000000000000" pitchFamily="50" charset="-127"/>
                        <a:cs typeface="KoPubWorld돋움체_Pro Medium" panose="00000600000000000000" pitchFamily="50" charset="-127"/>
                      </a:endParaRP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GB" altLang="ko-KR" sz="1200" b="0" dirty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1Q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KoPubWorld돋움체_Pro Medium" panose="00000600000000000000" pitchFamily="50" charset="-127"/>
                        <a:ea typeface="KoPubWorld돋움체_Pro Medium" panose="00000600000000000000" pitchFamily="50" charset="-127"/>
                        <a:cs typeface="KoPubWorld돋움체_Pro Medium" panose="00000600000000000000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2Q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3Q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4Q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계</a:t>
                      </a:r>
                      <a:endParaRPr lang="en-US" altLang="ko-KR" sz="1200" b="0" dirty="0">
                        <a:solidFill>
                          <a:schemeClr val="bg1"/>
                        </a:solidFill>
                        <a:latin typeface="KoPubWorld돋움체_Pro Medium" panose="00000600000000000000" pitchFamily="50" charset="-127"/>
                        <a:ea typeface="KoPubWorld돋움체_Pro Medium" panose="00000600000000000000" pitchFamily="50" charset="-127"/>
                        <a:cs typeface="KoPubWorld돋움체_Pro Medium" panose="00000600000000000000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ko-KR" sz="1200" b="0" dirty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25</a:t>
                      </a:r>
                      <a:r>
                        <a:rPr lang="ko-KR" altLang="en-US" sz="1200" b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년 </a:t>
                      </a:r>
                      <a:r>
                        <a:rPr lang="ko-KR" altLang="en-US" sz="1200" b="0" smtClean="0">
                          <a:solidFill>
                            <a:schemeClr val="bg1"/>
                          </a:solidFill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실적대비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KoPubWorld돋움체_Pro Medium" panose="00000600000000000000" pitchFamily="50" charset="-127"/>
                        <a:ea typeface="KoPubWorld돋움체_Pro Medium" panose="00000600000000000000" pitchFamily="50" charset="-127"/>
                        <a:cs typeface="KoPubWorld돋움체_Pro Medium" panose="00000600000000000000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16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매출 계</a:t>
                      </a:r>
                    </a:p>
                  </a:txBody>
                  <a:tcPr marL="72000" marR="72000" marT="952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13,260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5,150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4,000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3,740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4,610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16,110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2,850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33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건설부문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952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7,160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4,190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2,600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2,430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2,780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12,000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4,840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33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환경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/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위탁운영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952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6,100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580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1,080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970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1,480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4,110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(1,990</a:t>
                      </a:r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16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영업이익</a:t>
                      </a:r>
                    </a:p>
                  </a:txBody>
                  <a:tcPr marL="72000" marR="72000" marT="952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140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140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100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90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180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510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370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_Pro Medium" panose="00000600000000000000" pitchFamily="50" charset="-127"/>
                          <a:ea typeface="KoPubWorld돋움체_Pro Medium" panose="00000600000000000000" pitchFamily="50" charset="-127"/>
                          <a:cs typeface="KoPubWorld돋움체_Pro Medium" panose="00000600000000000000" pitchFamily="50" charset="-127"/>
                        </a:rPr>
                        <a:t>(%)</a:t>
                      </a:r>
                    </a:p>
                  </a:txBody>
                  <a:tcPr marL="72000" marR="72000" marT="952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1.0%</a:t>
                      </a:r>
                      <a:endParaRPr lang="en-US" altLang="ko-KR" sz="1200" b="0" i="1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2.9%</a:t>
                      </a:r>
                      <a:endParaRPr lang="en-US" altLang="ko-KR" sz="1200" b="0" i="1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2.8%</a:t>
                      </a:r>
                      <a:endParaRPr lang="en-US" altLang="ko-KR" sz="1200" b="0" i="1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2.5%</a:t>
                      </a:r>
                      <a:endParaRPr lang="en-US" altLang="ko-KR" sz="1200" b="0" i="1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4.3%</a:t>
                      </a:r>
                      <a:endParaRPr lang="en-US" altLang="ko-KR" sz="1200" b="0" i="1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3.2%</a:t>
                      </a:r>
                      <a:endParaRPr lang="en-US" altLang="ko-KR" sz="12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1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KoPubWorld돋움체 Medium" panose="00000600000000000000" pitchFamily="2" charset="-127"/>
                        </a:rPr>
                        <a:t>2.2%p</a:t>
                      </a:r>
                      <a:endParaRPr lang="en-US" altLang="ko-KR" sz="1200" b="0" i="1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KoPubWorld돋움체 Medium" panose="00000600000000000000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12053881"/>
                  </a:ext>
                </a:extLst>
              </a:tr>
            </a:tbl>
          </a:graphicData>
        </a:graphic>
      </p:graphicFrame>
      <p:sp>
        <p:nvSpPr>
          <p:cNvPr id="21" name="직사각형 13">
            <a:extLst>
              <a:ext uri="{FF2B5EF4-FFF2-40B4-BE49-F238E27FC236}">
                <a16:creationId xmlns:a16="http://schemas.microsoft.com/office/drawing/2014/main" xmlns="" id="{D9C30AB3-9AD2-A8D5-982A-4F5B2E7F2CBC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 flipH="1">
            <a:off x="203728" y="4857751"/>
            <a:ext cx="8816223" cy="1856094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108000" rIns="72000" bIns="108000" numCol="1" rtlCol="0" anchor="t" anchorCtr="0" compatLnSpc="1">
            <a:prstTxWarp prst="textNoShape">
              <a:avLst/>
            </a:prstTxWarp>
          </a:bodyPr>
          <a:lstStyle/>
          <a:p>
            <a:pPr marL="0" lvl="1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defRPr/>
            </a:pPr>
            <a:endParaRPr lang="en-US" altLang="ko-KR" sz="1200" kern="0" dirty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22" name="AutoShape 44">
            <a:extLst>
              <a:ext uri="{FF2B5EF4-FFF2-40B4-BE49-F238E27FC236}">
                <a16:creationId xmlns:a16="http://schemas.microsoft.com/office/drawing/2014/main" xmlns="" id="{BA27AC33-6B31-288F-23A3-157AFA2B8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84" y="4892260"/>
            <a:ext cx="8655788" cy="1780054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rIns="36000" anchor="t" anchorCtr="0"/>
          <a:lstStyle/>
          <a:p>
            <a:pPr marL="0" lvl="1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defRPr/>
            </a:pPr>
            <a:r>
              <a:rPr lang="ko-KR" altLang="en-US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Bold" panose="00000800000000000000" pitchFamily="2" charset="-127"/>
              </a:rPr>
              <a:t>▲ 주요 이슈 </a:t>
            </a:r>
            <a:r>
              <a:rPr lang="en-US" altLang="ko-KR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Bold" panose="00000800000000000000" pitchFamily="2" charset="-127"/>
              </a:rPr>
              <a:t>세부내용</a:t>
            </a:r>
            <a:r>
              <a:rPr lang="en-US" altLang="ko-KR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)</a:t>
            </a:r>
          </a:p>
          <a:p>
            <a:pPr marL="176213" lvl="1" indent="-176213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buFontTx/>
              <a:buChar char="•"/>
              <a:defRPr/>
            </a:pPr>
            <a:r>
              <a:rPr lang="en-US" altLang="ko-KR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1Q : </a:t>
            </a:r>
            <a:r>
              <a:rPr lang="ko-KR" altLang="en-US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수주영업 강화</a:t>
            </a:r>
            <a:r>
              <a:rPr lang="en-US" altLang="ko-KR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대형공사 위주의 공공입찰 및 수주전략 추진</a:t>
            </a:r>
            <a:endParaRPr lang="en-US" altLang="ko-KR" sz="1200" kern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176213" lvl="1" indent="-176213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buFontTx/>
              <a:buChar char="•"/>
              <a:defRPr/>
            </a:pPr>
            <a:r>
              <a:rPr lang="en-US" altLang="ko-KR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2Q : </a:t>
            </a:r>
            <a:r>
              <a:rPr lang="ko-KR" altLang="en-US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공사현장 및 운영사업장 관리 강화</a:t>
            </a:r>
            <a:endParaRPr lang="en-US" altLang="ko-KR" sz="1200" kern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176213" lvl="1" indent="-176213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buFontTx/>
              <a:buChar char="•"/>
              <a:defRPr/>
            </a:pPr>
            <a:r>
              <a:rPr lang="en-US" altLang="ko-KR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3Q : </a:t>
            </a:r>
            <a:r>
              <a:rPr lang="ko-KR" altLang="en-US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관급공사 및 민간공사 수주 총력</a:t>
            </a:r>
            <a:endParaRPr lang="en-US" altLang="ko-KR" sz="1200" kern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176213" lvl="1" indent="-176213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buFontTx/>
              <a:buChar char="•"/>
            </a:pPr>
            <a:r>
              <a:rPr lang="en-US" altLang="ko-KR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4Q : </a:t>
            </a:r>
            <a:r>
              <a:rPr lang="ko-KR" altLang="en-US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미착공 사업장 관리 및 대표사</a:t>
            </a:r>
            <a:r>
              <a:rPr lang="en-US" altLang="ko-KR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발주처 소통 및 동향주시</a:t>
            </a:r>
            <a:endParaRPr lang="en-US" altLang="ko-KR" sz="1200" kern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176213" lvl="1" indent="-176213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  <a:buFontTx/>
              <a:buChar char="•"/>
            </a:pPr>
            <a:r>
              <a:rPr lang="en-US" altLang="ko-KR" sz="1200" b="1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 </a:t>
            </a:r>
            <a:r>
              <a:rPr lang="ko-KR" altLang="en-US" sz="1200" b="1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대형공사 수주 및 공동도급 추진 등 입찰 강화</a:t>
            </a:r>
            <a:endParaRPr lang="en-GB" altLang="ko-KR" sz="1200" b="1" kern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marL="0" lvl="1" defTabSz="955675" fontAlgn="base" latinLnBrk="0">
              <a:spcBef>
                <a:spcPts val="600"/>
              </a:spcBef>
              <a:spcAft>
                <a:spcPct val="0"/>
              </a:spcAft>
              <a:buSzPct val="120000"/>
            </a:pPr>
            <a:r>
              <a:rPr lang="en-GB" altLang="ko-KR" sz="1200" b="1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     - </a:t>
            </a:r>
            <a:r>
              <a:rPr lang="ko-KR" altLang="en-US" sz="1200" b="1" kern="0">
                <a:solidFill>
                  <a:prstClr val="black"/>
                </a:solidFill>
                <a:latin typeface="맑은 고딕" panose="020B0503020000020004" pitchFamily="50" charset="-127"/>
                <a:cs typeface="KoPubWorld돋움체 Medium" panose="00000600000000000000" pitchFamily="2" charset="-127"/>
              </a:rPr>
              <a:t>공공 및 민간 공사입찰 수주 성과를 통하여 매출 극대화</a:t>
            </a:r>
            <a:endParaRPr lang="en-US" altLang="ko-KR" sz="1200" b="1" kern="0" dirty="0">
              <a:solidFill>
                <a:prstClr val="black"/>
              </a:solidFill>
              <a:latin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Text Box 100">
            <a:extLst>
              <a:ext uri="{FF2B5EF4-FFF2-40B4-BE49-F238E27FC236}">
                <a16:creationId xmlns="" xmlns:a16="http://schemas.microsoft.com/office/drawing/2014/main" id="{61FCC225-A7DF-6E3B-8828-DDF0652EC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84" y="763851"/>
            <a:ext cx="87321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en-US" altLang="ko-KR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26</a:t>
            </a:r>
            <a:r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년 </a:t>
            </a:r>
            <a:r>
              <a:rPr lang="ko-KR" altLang="en-US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인스그린</a:t>
            </a:r>
            <a:r>
              <a:rPr lang="ko-KR" alt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 사업은 </a:t>
            </a: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매출 </a:t>
            </a:r>
            <a:r>
              <a:rPr lang="en-GB" altLang="ko-KR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161.1</a:t>
            </a:r>
            <a:r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억원</a:t>
            </a:r>
            <a:r>
              <a:rPr lang="en-GB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, </a:t>
            </a: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영업이익 </a:t>
            </a:r>
            <a:r>
              <a:rPr lang="en-GB" altLang="ko-KR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5.1</a:t>
            </a:r>
            <a:r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억원</a:t>
            </a:r>
            <a:r>
              <a:rPr lang="en-GB" altLang="ko-KR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(3.2</a:t>
            </a:r>
            <a:r>
              <a:rPr lang="en-GB" altLang="ko-KR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%)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으로 수립 </a:t>
            </a: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되었고 </a:t>
            </a:r>
            <a:r>
              <a:rPr lang="en-GB" altLang="ko-KR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25</a:t>
            </a:r>
            <a:r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년 실적대비</a:t>
            </a:r>
            <a:r>
              <a:rPr lang="en-GB" altLang="ko-KR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 </a:t>
            </a:r>
            <a:r>
              <a:rPr lang="en-GB" altLang="ko-KR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121%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수준의 목표로 운영하고자 함 </a:t>
            </a:r>
            <a:endParaRPr lang="en-US" altLang="ko-KR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919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10">
            <a:extLst>
              <a:ext uri="{FF2B5EF4-FFF2-40B4-BE49-F238E27FC236}">
                <a16:creationId xmlns:a16="http://schemas.microsoft.com/office/drawing/2014/main" xmlns="" id="{CC7C8EBA-1753-4EB2-F82A-B473B9EE4251}"/>
              </a:ext>
            </a:extLst>
          </p:cNvPr>
          <p:cNvSpPr/>
          <p:nvPr/>
        </p:nvSpPr>
        <p:spPr>
          <a:xfrm>
            <a:off x="166683" y="161194"/>
            <a:ext cx="973059" cy="471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04</a:t>
            </a:r>
            <a:endParaRPr lang="ko-KR" altLang="en-US" sz="2400" b="1" dirty="0">
              <a:solidFill>
                <a:prstClr val="black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B6EB387-A932-43F4-E5CB-C132E814220C}"/>
              </a:ext>
            </a:extLst>
          </p:cNvPr>
          <p:cNvSpPr txBox="1"/>
          <p:nvPr/>
        </p:nvSpPr>
        <p:spPr>
          <a:xfrm>
            <a:off x="1256372" y="214455"/>
            <a:ext cx="775314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2026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년 목표 달성 방안 </a:t>
            </a: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_ 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팀</a:t>
            </a: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부문별 </a:t>
            </a:r>
            <a:endParaRPr lang="en-US" altLang="ko-KR" sz="2400" b="1" dirty="0">
              <a:solidFill>
                <a:prstClr val="black">
                  <a:lumMod val="75000"/>
                  <a:lumOff val="25000"/>
                </a:prst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grpSp>
        <p:nvGrpSpPr>
          <p:cNvPr id="11" name="그룹 46">
            <a:extLst>
              <a:ext uri="{FF2B5EF4-FFF2-40B4-BE49-F238E27FC236}">
                <a16:creationId xmlns:a16="http://schemas.microsoft.com/office/drawing/2014/main" xmlns="" id="{1456CE94-3AFE-E47A-6FD4-A68DC124DB92}"/>
              </a:ext>
            </a:extLst>
          </p:cNvPr>
          <p:cNvGrpSpPr/>
          <p:nvPr/>
        </p:nvGrpSpPr>
        <p:grpSpPr>
          <a:xfrm>
            <a:off x="4246685" y="1573408"/>
            <a:ext cx="4570328" cy="335938"/>
            <a:chOff x="399034" y="1268198"/>
            <a:chExt cx="4097076" cy="335938"/>
          </a:xfrm>
        </p:grpSpPr>
        <p:cxnSp>
          <p:nvCxnSpPr>
            <p:cNvPr id="31" name="직선 연결선 168">
              <a:extLst>
                <a:ext uri="{FF2B5EF4-FFF2-40B4-BE49-F238E27FC236}">
                  <a16:creationId xmlns:a16="http://schemas.microsoft.com/office/drawing/2014/main" xmlns="" id="{2C24BCFB-1BBD-5705-3204-3E2CD2F7EC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9034" y="1604136"/>
              <a:ext cx="4097076" cy="0"/>
            </a:xfrm>
            <a:prstGeom prst="line">
              <a:avLst/>
            </a:prstGeom>
            <a:noFill/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" name="TextBox 170">
              <a:extLst>
                <a:ext uri="{FF2B5EF4-FFF2-40B4-BE49-F238E27FC236}">
                  <a16:creationId xmlns:a16="http://schemas.microsoft.com/office/drawing/2014/main" xmlns="" id="{A3B9D9A2-0364-018A-52C8-7A6522236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576" y="1268198"/>
              <a:ext cx="3897992" cy="307777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>
                <a:defRPr/>
              </a:pPr>
              <a:r>
                <a:rPr lang="ko-KR" altLang="en-US" sz="1400" b="1" dirty="0">
                  <a:solidFill>
                    <a:prstClr val="black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전략 방향</a:t>
              </a:r>
            </a:p>
          </p:txBody>
        </p:sp>
      </p:grpSp>
      <p:grpSp>
        <p:nvGrpSpPr>
          <p:cNvPr id="33" name="그룹 62">
            <a:extLst>
              <a:ext uri="{FF2B5EF4-FFF2-40B4-BE49-F238E27FC236}">
                <a16:creationId xmlns:a16="http://schemas.microsoft.com/office/drawing/2014/main" xmlns="" id="{69BAC004-A81D-CBC2-0FF3-D01CBBD4CF13}"/>
              </a:ext>
            </a:extLst>
          </p:cNvPr>
          <p:cNvGrpSpPr/>
          <p:nvPr/>
        </p:nvGrpSpPr>
        <p:grpSpPr>
          <a:xfrm>
            <a:off x="1139744" y="1573408"/>
            <a:ext cx="2922302" cy="335938"/>
            <a:chOff x="399034" y="1268198"/>
            <a:chExt cx="4097076" cy="335938"/>
          </a:xfrm>
        </p:grpSpPr>
        <p:cxnSp>
          <p:nvCxnSpPr>
            <p:cNvPr id="34" name="직선 연결선 168">
              <a:extLst>
                <a:ext uri="{FF2B5EF4-FFF2-40B4-BE49-F238E27FC236}">
                  <a16:creationId xmlns:a16="http://schemas.microsoft.com/office/drawing/2014/main" xmlns="" id="{55E46DFF-C649-6B42-3A7E-F93EAB6458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9034" y="1604136"/>
              <a:ext cx="4097076" cy="0"/>
            </a:xfrm>
            <a:prstGeom prst="line">
              <a:avLst/>
            </a:prstGeom>
            <a:noFill/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TextBox 170">
              <a:extLst>
                <a:ext uri="{FF2B5EF4-FFF2-40B4-BE49-F238E27FC236}">
                  <a16:creationId xmlns:a16="http://schemas.microsoft.com/office/drawing/2014/main" xmlns="" id="{234991B0-6BCE-4756-9BC1-2BCA9A674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576" y="1268198"/>
              <a:ext cx="3897992" cy="307777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>
                <a:defRPr/>
              </a:pPr>
              <a:r>
                <a:rPr lang="ko-KR" altLang="en-US" sz="1400" b="1" dirty="0">
                  <a:solidFill>
                    <a:prstClr val="black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내 용</a:t>
              </a:r>
            </a:p>
          </p:txBody>
        </p:sp>
      </p:grpSp>
      <p:sp>
        <p:nvSpPr>
          <p:cNvPr id="36" name="직사각형 98">
            <a:extLst>
              <a:ext uri="{FF2B5EF4-FFF2-40B4-BE49-F238E27FC236}">
                <a16:creationId xmlns:a16="http://schemas.microsoft.com/office/drawing/2014/main" xmlns="" id="{5B69761D-FDF7-DF8D-8D28-57BBC5E0FC2C}"/>
              </a:ext>
            </a:extLst>
          </p:cNvPr>
          <p:cNvSpPr/>
          <p:nvPr/>
        </p:nvSpPr>
        <p:spPr bwMode="auto">
          <a:xfrm>
            <a:off x="166683" y="1981354"/>
            <a:ext cx="770629" cy="102561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4262" rIns="36000" bIns="44262" anchor="ctr" anchorCtr="1"/>
          <a:lstStyle/>
          <a:p>
            <a:pPr algn="ctr" latinLnBrk="0">
              <a:defRPr/>
            </a:pPr>
            <a:r>
              <a:rPr lang="ko-KR" altLang="en-US" sz="1400" b="1" smtClea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건설</a:t>
            </a:r>
            <a:endParaRPr lang="en-US" altLang="ko-KR" sz="1400" b="1" smtClean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  <a:p>
            <a:pPr algn="ctr" latinLnBrk="0">
              <a:defRPr/>
            </a:pPr>
            <a:r>
              <a:rPr lang="ko-KR" altLang="en-US" sz="1400" b="1" smtClea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부문</a:t>
            </a:r>
            <a:endParaRPr lang="en-US" altLang="ko-KR" sz="1400" b="1" dirty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xmlns="" id="{532EF6CF-24D8-DD5B-98B6-53F1055D4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741" y="2099743"/>
            <a:ext cx="3512645" cy="9747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7129" tIns="45307" rIns="87601" bIns="45307" anchor="t"/>
          <a:lstStyle/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공공공사 입찰 </a:t>
            </a:r>
            <a:r>
              <a:rPr lang="ko-KR" altLang="en-US" sz="1100" dirty="0" smtClean="0">
                <a:solidFill>
                  <a:prstClr val="black"/>
                </a:solidFill>
              </a:rPr>
              <a:t>및 수주강화</a:t>
            </a:r>
            <a:r>
              <a:rPr lang="en-US" altLang="ko-KR" sz="1100" kern="0" dirty="0">
                <a:solidFill>
                  <a:srgbClr val="FF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(</a:t>
            </a:r>
            <a:r>
              <a:rPr lang="ko-KR" altLang="en-US" sz="1100" kern="0" dirty="0">
                <a:solidFill>
                  <a:srgbClr val="FF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중점추진과제</a:t>
            </a:r>
            <a:r>
              <a:rPr lang="en-US" altLang="ko-KR" sz="1100" kern="0" dirty="0">
                <a:solidFill>
                  <a:srgbClr val="FF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1)</a:t>
            </a: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dirty="0" smtClean="0">
                <a:solidFill>
                  <a:prstClr val="black"/>
                </a:solidFill>
              </a:rPr>
              <a:t>사업장 관리 강화</a:t>
            </a:r>
            <a:endParaRPr lang="en-US" altLang="ko-KR" sz="1100" dirty="0" smtClean="0">
              <a:solidFill>
                <a:prstClr val="black"/>
              </a:solidFill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kern="0" dirty="0" err="1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미착공</a:t>
            </a:r>
            <a:r>
              <a:rPr lang="ko-KR" altLang="en-US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 사업장</a:t>
            </a:r>
            <a:r>
              <a:rPr lang="en-US" altLang="ko-KR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(</a:t>
            </a:r>
            <a:r>
              <a:rPr lang="ko-KR" altLang="en-US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문산</a:t>
            </a:r>
            <a:r>
              <a:rPr lang="en-US" altLang="ko-KR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~</a:t>
            </a:r>
            <a:r>
              <a:rPr lang="ko-KR" altLang="en-US" sz="1100" kern="0" dirty="0" err="1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도라산</a:t>
            </a:r>
            <a:r>
              <a:rPr lang="en-US" altLang="ko-KR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) </a:t>
            </a:r>
            <a:r>
              <a:rPr lang="ko-KR" altLang="en-US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주기적 파악</a:t>
            </a:r>
            <a:endParaRPr lang="en-US" altLang="ko-KR" sz="1100" kern="0" dirty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xmlns="" id="{2F12455D-F17E-ADDD-FF3C-CE9043BF1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891" y="2112626"/>
            <a:ext cx="4745035" cy="9747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7129" tIns="45307" rIns="87601" bIns="45307" anchor="t"/>
          <a:lstStyle/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dirty="0" smtClean="0">
                <a:solidFill>
                  <a:prstClr val="black"/>
                </a:solidFill>
              </a:rPr>
              <a:t>공동도급 추진으로 참여기회 확대</a:t>
            </a:r>
            <a:endParaRPr lang="en-US" altLang="ko-KR" sz="1100" dirty="0" smtClean="0">
              <a:solidFill>
                <a:prstClr val="black"/>
              </a:solidFill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공사원가 관리로 목표수익 달성</a:t>
            </a:r>
            <a:endParaRPr lang="en-US" altLang="ko-KR" sz="1100" kern="0" dirty="0" smtClean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kern="0" dirty="0" err="1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대표사</a:t>
            </a:r>
            <a:r>
              <a:rPr lang="en-US" altLang="ko-KR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(</a:t>
            </a:r>
            <a:r>
              <a:rPr lang="ko-KR" altLang="en-US" sz="1100" kern="0" dirty="0" err="1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롯데건설</a:t>
            </a:r>
            <a:r>
              <a:rPr lang="en-US" altLang="ko-KR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)</a:t>
            </a:r>
            <a:r>
              <a:rPr lang="ko-KR" altLang="en-US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와의 소통</a:t>
            </a:r>
            <a:r>
              <a:rPr lang="en-US" altLang="ko-KR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, </a:t>
            </a:r>
            <a:r>
              <a:rPr lang="ko-KR" altLang="en-US" sz="1100" kern="0" dirty="0" err="1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발주처</a:t>
            </a:r>
            <a:r>
              <a:rPr lang="en-US" altLang="ko-KR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(</a:t>
            </a:r>
            <a:r>
              <a:rPr lang="ko-KR" altLang="en-US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한국도로공사</a:t>
            </a:r>
            <a:r>
              <a:rPr lang="en-US" altLang="ko-KR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)</a:t>
            </a:r>
            <a:r>
              <a:rPr lang="ko-KR" altLang="en-US" sz="1100" kern="0" dirty="0" smtClean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주시</a:t>
            </a:r>
            <a:endParaRPr lang="en-US" altLang="ko-KR" sz="1100" kern="0" dirty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39" name="직사각형 101">
            <a:extLst>
              <a:ext uri="{FF2B5EF4-FFF2-40B4-BE49-F238E27FC236}">
                <a16:creationId xmlns:a16="http://schemas.microsoft.com/office/drawing/2014/main" xmlns="" id="{894DDEFB-D34B-F519-5236-ACD1EF76A1D0}"/>
              </a:ext>
            </a:extLst>
          </p:cNvPr>
          <p:cNvSpPr/>
          <p:nvPr/>
        </p:nvSpPr>
        <p:spPr bwMode="auto">
          <a:xfrm>
            <a:off x="166680" y="4342270"/>
            <a:ext cx="770629" cy="102561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4262" rIns="36000" bIns="44262" anchor="ctr" anchorCtr="1"/>
          <a:lstStyle/>
          <a:p>
            <a:pPr algn="ctr" latinLnBrk="0">
              <a:defRPr/>
            </a:pPr>
            <a:r>
              <a:rPr lang="ko-KR" altLang="en-US" sz="1400" b="1" smtClea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위탁</a:t>
            </a:r>
            <a:endParaRPr lang="en-US" altLang="ko-KR" sz="1400" b="1" smtClean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  <a:p>
            <a:pPr algn="ctr" latinLnBrk="0">
              <a:defRPr/>
            </a:pPr>
            <a:r>
              <a:rPr lang="ko-KR" altLang="en-US" sz="1400" b="1" smtClea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운영</a:t>
            </a:r>
            <a:endParaRPr lang="en-US" altLang="ko-KR" sz="1400" b="1" dirty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2" name="직사각형 30">
            <a:extLst>
              <a:ext uri="{FF2B5EF4-FFF2-40B4-BE49-F238E27FC236}">
                <a16:creationId xmlns:a16="http://schemas.microsoft.com/office/drawing/2014/main" xmlns="" id="{0F07FAB4-088C-155A-4031-722B291FAD39}"/>
              </a:ext>
            </a:extLst>
          </p:cNvPr>
          <p:cNvSpPr/>
          <p:nvPr/>
        </p:nvSpPr>
        <p:spPr>
          <a:xfrm>
            <a:off x="193288" y="837430"/>
            <a:ext cx="8816223" cy="606157"/>
          </a:xfrm>
          <a:prstGeom prst="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 Box 100">
            <a:extLst>
              <a:ext uri="{FF2B5EF4-FFF2-40B4-BE49-F238E27FC236}">
                <a16:creationId xmlns:a16="http://schemas.microsoft.com/office/drawing/2014/main" xmlns="" id="{9182ADE7-EE5F-ADA0-01AC-B4550B86B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84" y="753805"/>
            <a:ext cx="87321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smtClean="0"/>
              <a:t>공공</a:t>
            </a:r>
            <a:r>
              <a:rPr lang="en-US" altLang="ko-KR"/>
              <a:t>·</a:t>
            </a:r>
            <a:r>
              <a:rPr lang="ko-KR" altLang="en-US"/>
              <a:t>환경</a:t>
            </a:r>
            <a:r>
              <a:rPr lang="en-US" altLang="ko-KR"/>
              <a:t>·</a:t>
            </a:r>
            <a:r>
              <a:rPr lang="ko-KR" altLang="en-US"/>
              <a:t>위탁운영 </a:t>
            </a:r>
            <a:r>
              <a:rPr lang="ko-KR" altLang="en-US" smtClean="0"/>
              <a:t>부문별 </a:t>
            </a:r>
            <a:r>
              <a:rPr lang="ko-KR" altLang="en-US"/>
              <a:t>수주 경쟁력 강화</a:t>
            </a: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/>
            </a:r>
            <a:b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</a:br>
            <a:r>
              <a:rPr lang="ko-KR" altLang="en-US"/>
              <a:t>안정적 매출 기반 확보 및 성장동력 창출</a:t>
            </a:r>
            <a:endParaRPr lang="en-US" altLang="ko-KR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6" name="직사각형 101">
            <a:extLst>
              <a:ext uri="{FF2B5EF4-FFF2-40B4-BE49-F238E27FC236}">
                <a16:creationId xmlns:a16="http://schemas.microsoft.com/office/drawing/2014/main" xmlns="" id="{457AEB26-29E1-FB4B-AC9A-DCA02FE26204}"/>
              </a:ext>
            </a:extLst>
          </p:cNvPr>
          <p:cNvSpPr/>
          <p:nvPr/>
        </p:nvSpPr>
        <p:spPr bwMode="auto">
          <a:xfrm>
            <a:off x="166682" y="3191608"/>
            <a:ext cx="770629" cy="102561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4262" rIns="36000" bIns="44262" anchor="ctr" anchorCtr="1"/>
          <a:lstStyle/>
          <a:p>
            <a:pPr algn="ctr" latinLnBrk="0">
              <a:defRPr/>
            </a:pPr>
            <a:r>
              <a:rPr lang="ko-KR" altLang="en-US" sz="1400" b="1" smtClea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환경</a:t>
            </a:r>
            <a:endParaRPr lang="en-US" altLang="ko-KR" sz="1400" b="1" smtClean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  <a:p>
            <a:pPr algn="ctr" latinLnBrk="0">
              <a:defRPr/>
            </a:pPr>
            <a:r>
              <a:rPr lang="ko-KR" altLang="en-US" sz="1400" b="1" smtClea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부문</a:t>
            </a:r>
            <a:endParaRPr lang="en-US" altLang="ko-KR" sz="1400" b="1" dirty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xmlns="" id="{91E21E71-0345-C988-70E2-22F934FCC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742" y="4393158"/>
            <a:ext cx="3713612" cy="9747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7129" tIns="45307" rIns="87601" bIns="45307" anchor="t"/>
          <a:lstStyle/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>
                <a:solidFill>
                  <a:prstClr val="black"/>
                </a:solidFill>
              </a:rPr>
              <a:t>수질환경전문공사업 </a:t>
            </a:r>
            <a:r>
              <a:rPr lang="ko-KR" altLang="en-US" sz="1100" smtClean="0">
                <a:solidFill>
                  <a:prstClr val="black"/>
                </a:solidFill>
              </a:rPr>
              <a:t>면허기반 </a:t>
            </a:r>
            <a:r>
              <a:rPr lang="ko-KR" altLang="en-US" sz="1100">
                <a:solidFill>
                  <a:prstClr val="black"/>
                </a:solidFill>
              </a:rPr>
              <a:t>유지</a:t>
            </a:r>
            <a:r>
              <a:rPr lang="en-US" altLang="ko-KR" sz="1100">
                <a:solidFill>
                  <a:prstClr val="black"/>
                </a:solidFill>
              </a:rPr>
              <a:t>·</a:t>
            </a:r>
            <a:r>
              <a:rPr lang="ko-KR" altLang="en-US" sz="1100" smtClean="0">
                <a:solidFill>
                  <a:prstClr val="black"/>
                </a:solidFill>
              </a:rPr>
              <a:t>확대</a:t>
            </a:r>
            <a:endParaRPr lang="en-US" altLang="ko-KR" sz="1100" smtClean="0">
              <a:solidFill>
                <a:prstClr val="black"/>
              </a:solidFill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>
                <a:solidFill>
                  <a:prstClr val="black"/>
                </a:solidFill>
              </a:rPr>
              <a:t>대기환경전문공사업 </a:t>
            </a:r>
            <a:r>
              <a:rPr lang="ko-KR" altLang="en-US" sz="1100" smtClean="0">
                <a:solidFill>
                  <a:prstClr val="black"/>
                </a:solidFill>
              </a:rPr>
              <a:t>신규취득 및 진출</a:t>
            </a:r>
            <a:r>
              <a:rPr lang="en-US" altLang="ko-KR" sz="1100" kern="0">
                <a:solidFill>
                  <a:srgbClr val="FF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(</a:t>
            </a:r>
            <a:r>
              <a:rPr lang="ko-KR" altLang="en-US" sz="1100" kern="0" smtClean="0">
                <a:solidFill>
                  <a:srgbClr val="FF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중점추진과제</a:t>
            </a:r>
            <a:r>
              <a:rPr lang="en-US" altLang="ko-KR" sz="1100" kern="0" smtClean="0">
                <a:solidFill>
                  <a:srgbClr val="FF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3)</a:t>
            </a:r>
            <a:endParaRPr lang="en-US" altLang="ko-KR" sz="1100" smtClean="0">
              <a:solidFill>
                <a:prstClr val="black"/>
              </a:solidFill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smtClean="0">
                <a:solidFill>
                  <a:prstClr val="black"/>
                </a:solidFill>
              </a:rPr>
              <a:t>적격심사 점수개선</a:t>
            </a:r>
            <a:r>
              <a:rPr lang="en-US" altLang="ko-KR" sz="1100" smtClean="0">
                <a:solidFill>
                  <a:prstClr val="black"/>
                </a:solidFill>
              </a:rPr>
              <a:t>(</a:t>
            </a:r>
            <a:r>
              <a:rPr lang="ko-KR" altLang="en-US" sz="1100" smtClean="0">
                <a:solidFill>
                  <a:prstClr val="black"/>
                </a:solidFill>
              </a:rPr>
              <a:t>기술인력</a:t>
            </a:r>
            <a:r>
              <a:rPr lang="en-US" altLang="ko-KR" sz="1100" smtClean="0">
                <a:solidFill>
                  <a:prstClr val="black"/>
                </a:solidFill>
              </a:rPr>
              <a:t>)</a:t>
            </a:r>
            <a:r>
              <a:rPr lang="ko-KR" altLang="en-US" sz="1100" smtClean="0">
                <a:solidFill>
                  <a:prstClr val="black"/>
                </a:solidFill>
              </a:rPr>
              <a:t> </a:t>
            </a:r>
            <a:r>
              <a:rPr lang="ko-KR" altLang="en-US" sz="1100">
                <a:solidFill>
                  <a:prstClr val="black"/>
                </a:solidFill>
              </a:rPr>
              <a:t>및 </a:t>
            </a:r>
            <a:r>
              <a:rPr lang="ko-KR" altLang="en-US" sz="1100" smtClean="0">
                <a:solidFill>
                  <a:prstClr val="black"/>
                </a:solidFill>
              </a:rPr>
              <a:t>우수 </a:t>
            </a:r>
            <a:r>
              <a:rPr lang="ko-KR" altLang="en-US" sz="1100">
                <a:solidFill>
                  <a:prstClr val="black"/>
                </a:solidFill>
              </a:rPr>
              <a:t>실적 </a:t>
            </a:r>
            <a:r>
              <a:rPr lang="ko-KR" altLang="en-US" sz="1100" smtClean="0">
                <a:solidFill>
                  <a:prstClr val="black"/>
                </a:solidFill>
              </a:rPr>
              <a:t>확보</a:t>
            </a:r>
            <a:endParaRPr lang="en-US" altLang="ko-KR" sz="1100" smtClean="0">
              <a:solidFill>
                <a:prstClr val="black"/>
              </a:solidFill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endParaRPr lang="en-US" altLang="ko-KR" sz="1100" kern="0" dirty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xmlns="" id="{532EF6CF-24D8-DD5B-98B6-53F1055D4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741" y="3228034"/>
            <a:ext cx="3217983" cy="9747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7129" tIns="45307" rIns="87601" bIns="45307" anchor="t"/>
          <a:lstStyle/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dirty="0" smtClean="0">
                <a:solidFill>
                  <a:prstClr val="black"/>
                </a:solidFill>
              </a:rPr>
              <a:t>환경설비</a:t>
            </a:r>
            <a:r>
              <a:rPr lang="en-US" altLang="ko-KR" sz="1100" dirty="0">
                <a:solidFill>
                  <a:prstClr val="black"/>
                </a:solidFill>
              </a:rPr>
              <a:t> ·</a:t>
            </a:r>
            <a:r>
              <a:rPr lang="ko-KR" altLang="en-US" sz="1100" dirty="0" smtClean="0">
                <a:solidFill>
                  <a:prstClr val="black"/>
                </a:solidFill>
              </a:rPr>
              <a:t> 기계 공사 수주확대</a:t>
            </a:r>
            <a:r>
              <a:rPr lang="en-US" altLang="ko-KR" sz="1100" kern="0" dirty="0" smtClean="0">
                <a:solidFill>
                  <a:srgbClr val="FF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(</a:t>
            </a:r>
            <a:r>
              <a:rPr lang="ko-KR" altLang="en-US" sz="1100" kern="0" dirty="0" smtClean="0">
                <a:solidFill>
                  <a:srgbClr val="FF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중점추진과제</a:t>
            </a:r>
            <a:r>
              <a:rPr lang="en-US" altLang="ko-KR" sz="1100" kern="0" dirty="0" smtClean="0">
                <a:solidFill>
                  <a:srgbClr val="FF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2)</a:t>
            </a: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민간</a:t>
            </a:r>
            <a:r>
              <a:rPr lang="en-US" altLang="ko-KR" sz="1100" dirty="0">
                <a:solidFill>
                  <a:prstClr val="black"/>
                </a:solidFill>
              </a:rPr>
              <a:t>·</a:t>
            </a:r>
            <a:r>
              <a:rPr lang="ko-KR" altLang="en-US" sz="1100" dirty="0">
                <a:solidFill>
                  <a:prstClr val="black"/>
                </a:solidFill>
              </a:rPr>
              <a:t>산단 중심 </a:t>
            </a:r>
            <a:r>
              <a:rPr lang="ko-KR" altLang="en-US" sz="1100" dirty="0" err="1">
                <a:solidFill>
                  <a:prstClr val="black"/>
                </a:solidFill>
              </a:rPr>
              <a:t>제안형</a:t>
            </a:r>
            <a:r>
              <a:rPr lang="ko-KR" altLang="en-US" sz="1100" dirty="0">
                <a:solidFill>
                  <a:prstClr val="black"/>
                </a:solidFill>
              </a:rPr>
              <a:t> </a:t>
            </a:r>
            <a:r>
              <a:rPr lang="ko-KR" altLang="en-US" sz="1100">
                <a:solidFill>
                  <a:prstClr val="black"/>
                </a:solidFill>
              </a:rPr>
              <a:t>영업 </a:t>
            </a:r>
            <a:r>
              <a:rPr lang="ko-KR" altLang="en-US" sz="1100" smtClean="0">
                <a:solidFill>
                  <a:prstClr val="black"/>
                </a:solidFill>
              </a:rPr>
              <a:t>강화</a:t>
            </a:r>
            <a:endParaRPr lang="en-US" altLang="ko-KR" sz="1100" smtClean="0">
              <a:solidFill>
                <a:prstClr val="black"/>
              </a:solidFill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kern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직접생산물품 </a:t>
            </a:r>
            <a:r>
              <a:rPr lang="ko-KR" altLang="en-US" sz="1100" kern="0" smtClean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수주확대</a:t>
            </a:r>
            <a:endParaRPr lang="en-US" altLang="ko-KR" sz="1100" kern="0">
              <a:solidFill>
                <a:schemeClr val="tx1">
                  <a:lumMod val="95000"/>
                  <a:lumOff val="5000"/>
                </a:schemeClr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xmlns="" id="{2F12455D-F17E-ADDD-FF3C-CE9043BF1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849" y="3195797"/>
            <a:ext cx="4745035" cy="84364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7129" tIns="45307" rIns="87601" bIns="45307" anchor="t"/>
          <a:lstStyle/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기계공사 수주 </a:t>
            </a:r>
            <a:r>
              <a:rPr lang="en-US" altLang="ko-KR" sz="1100" dirty="0">
                <a:solidFill>
                  <a:prstClr val="black"/>
                </a:solidFill>
              </a:rPr>
              <a:t>50% </a:t>
            </a:r>
            <a:r>
              <a:rPr lang="ko-KR" altLang="en-US" sz="1100" dirty="0" smtClean="0">
                <a:solidFill>
                  <a:prstClr val="black"/>
                </a:solidFill>
              </a:rPr>
              <a:t>증가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dirty="0" smtClean="0">
                <a:solidFill>
                  <a:prstClr val="black"/>
                </a:solidFill>
              </a:rPr>
              <a:t>신규 </a:t>
            </a:r>
            <a:r>
              <a:rPr lang="ko-KR" altLang="en-US" sz="1100" dirty="0" err="1" smtClean="0">
                <a:solidFill>
                  <a:prstClr val="black"/>
                </a:solidFill>
              </a:rPr>
              <a:t>고객사</a:t>
            </a:r>
            <a:r>
              <a:rPr lang="ko-KR" altLang="en-US" sz="1100" dirty="0" smtClean="0">
                <a:solidFill>
                  <a:prstClr val="black"/>
                </a:solidFill>
              </a:rPr>
              <a:t> </a:t>
            </a:r>
            <a:r>
              <a:rPr lang="en-US" altLang="ko-KR" sz="1100" dirty="0">
                <a:solidFill>
                  <a:prstClr val="black"/>
                </a:solidFill>
              </a:rPr>
              <a:t>3</a:t>
            </a:r>
            <a:r>
              <a:rPr lang="ko-KR" altLang="en-US" sz="1100" err="1" smtClean="0">
                <a:solidFill>
                  <a:prstClr val="black"/>
                </a:solidFill>
              </a:rPr>
              <a:t>곳이상</a:t>
            </a:r>
            <a:r>
              <a:rPr lang="ko-KR" altLang="en-US" sz="1100" smtClean="0">
                <a:solidFill>
                  <a:prstClr val="black"/>
                </a:solidFill>
              </a:rPr>
              <a:t> 확보</a:t>
            </a:r>
            <a:endParaRPr lang="en-US" altLang="ko-KR" sz="1100" smtClean="0">
              <a:solidFill>
                <a:prstClr val="black"/>
              </a:solidFill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ker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가평군 발효기 공사 </a:t>
            </a:r>
            <a:r>
              <a:rPr lang="ko-KR" altLang="en-US" sz="1100" kern="0" smtClea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확보</a:t>
            </a:r>
            <a:endParaRPr lang="en-US" altLang="ko-KR" sz="1100" kern="0" dirty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xmlns="" id="{2F12455D-F17E-ADDD-FF3C-CE9043BF1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849" y="4342270"/>
            <a:ext cx="4745035" cy="9747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7129" tIns="45307" rIns="87601" bIns="45307" anchor="t"/>
          <a:lstStyle/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>
                <a:solidFill>
                  <a:prstClr val="black"/>
                </a:solidFill>
              </a:rPr>
              <a:t>대기환경 신규 운영사업 </a:t>
            </a:r>
            <a:r>
              <a:rPr lang="en-US" altLang="ko-KR" sz="1100">
                <a:solidFill>
                  <a:prstClr val="black"/>
                </a:solidFill>
              </a:rPr>
              <a:t>2</a:t>
            </a:r>
            <a:r>
              <a:rPr lang="ko-KR" altLang="en-US" sz="1100" smtClean="0">
                <a:solidFill>
                  <a:prstClr val="black"/>
                </a:solidFill>
              </a:rPr>
              <a:t>건이상 확보</a:t>
            </a:r>
            <a:endParaRPr lang="en-US" altLang="ko-KR" sz="1100" smtClean="0">
              <a:solidFill>
                <a:prstClr val="black"/>
              </a:solidFill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>
                <a:solidFill>
                  <a:prstClr val="black"/>
                </a:solidFill>
              </a:rPr>
              <a:t>대기오염방지시설 설치</a:t>
            </a:r>
            <a:r>
              <a:rPr lang="en-US" altLang="ko-KR" sz="1100">
                <a:solidFill>
                  <a:prstClr val="black"/>
                </a:solidFill>
              </a:rPr>
              <a:t>·</a:t>
            </a:r>
            <a:r>
              <a:rPr lang="ko-KR" altLang="en-US" sz="1100">
                <a:solidFill>
                  <a:prstClr val="black"/>
                </a:solidFill>
              </a:rPr>
              <a:t>개선</a:t>
            </a:r>
            <a:r>
              <a:rPr lang="en-US" altLang="ko-KR" sz="1100">
                <a:solidFill>
                  <a:prstClr val="black"/>
                </a:solidFill>
              </a:rPr>
              <a:t>·</a:t>
            </a:r>
            <a:r>
              <a:rPr lang="ko-KR" altLang="en-US" sz="1100">
                <a:solidFill>
                  <a:prstClr val="black"/>
                </a:solidFill>
              </a:rPr>
              <a:t>유지관리 사업 </a:t>
            </a:r>
            <a:r>
              <a:rPr lang="ko-KR" altLang="en-US" sz="1100" smtClean="0">
                <a:solidFill>
                  <a:prstClr val="black"/>
                </a:solidFill>
              </a:rPr>
              <a:t>진입</a:t>
            </a:r>
            <a:endParaRPr lang="en-US" altLang="ko-KR" sz="1100" smtClean="0">
              <a:solidFill>
                <a:prstClr val="black"/>
              </a:solidFill>
            </a:endParaRPr>
          </a:p>
          <a:p>
            <a:pPr marL="108000" indent="-108000" latinLnBrk="0">
              <a:lnSpc>
                <a:spcPct val="105000"/>
              </a:lnSpc>
              <a:spcAft>
                <a:spcPts val="290"/>
              </a:spcAft>
              <a:buFont typeface="Arial" pitchFamily="34" charset="0"/>
              <a:buChar char="•"/>
              <a:defRPr/>
            </a:pPr>
            <a:r>
              <a:rPr lang="ko-KR" altLang="en-US" sz="1100" ker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김천시 가축분뇨 자원화시설 위탁운영 </a:t>
            </a:r>
            <a:r>
              <a:rPr lang="ko-KR" altLang="en-US" sz="1100" kern="0" smtClea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보수공사</a:t>
            </a:r>
            <a:r>
              <a:rPr lang="en-US" altLang="ko-KR" sz="1100" kern="0" smtClean="0">
                <a:solidFill>
                  <a:srgbClr val="000000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  </a:t>
            </a:r>
            <a:endParaRPr lang="en-US" altLang="ko-KR" sz="1100" kern="0" dirty="0">
              <a:solidFill>
                <a:srgbClr val="000000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587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4B86F59-6C36-69A6-050A-78E30F738F8F}"/>
              </a:ext>
            </a:extLst>
          </p:cNvPr>
          <p:cNvSpPr txBox="1"/>
          <p:nvPr/>
        </p:nvSpPr>
        <p:spPr>
          <a:xfrm>
            <a:off x="1256372" y="214455"/>
            <a:ext cx="775314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2026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년 중점 추진 과제</a:t>
            </a:r>
            <a:endParaRPr lang="en-US" altLang="ko-KR" sz="2400" b="1" dirty="0">
              <a:solidFill>
                <a:prstClr val="black">
                  <a:lumMod val="75000"/>
                  <a:lumOff val="25000"/>
                </a:prst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3F74895B-3BFA-47C3-7152-3BA6F9A65361}"/>
              </a:ext>
            </a:extLst>
          </p:cNvPr>
          <p:cNvSpPr txBox="1"/>
          <p:nvPr/>
        </p:nvSpPr>
        <p:spPr>
          <a:xfrm>
            <a:off x="332663" y="1025942"/>
            <a:ext cx="1644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600" b="1" dirty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과제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098A3A85-EFA1-7C99-E98D-222339FF0BB7}"/>
              </a:ext>
            </a:extLst>
          </p:cNvPr>
          <p:cNvSpPr txBox="1"/>
          <p:nvPr/>
        </p:nvSpPr>
        <p:spPr>
          <a:xfrm>
            <a:off x="2689745" y="1025942"/>
            <a:ext cx="3361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600" b="1" dirty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내용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A387B86A-1E2F-0F8B-5362-55DF2C55BF1A}"/>
              </a:ext>
            </a:extLst>
          </p:cNvPr>
          <p:cNvSpPr txBox="1"/>
          <p:nvPr/>
        </p:nvSpPr>
        <p:spPr>
          <a:xfrm>
            <a:off x="6762041" y="1025942"/>
            <a:ext cx="2396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600" b="1" dirty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목표</a:t>
            </a:r>
          </a:p>
        </p:txBody>
      </p:sp>
      <p:cxnSp>
        <p:nvCxnSpPr>
          <p:cNvPr id="25" name="직선 연결선[R] 35">
            <a:extLst>
              <a:ext uri="{FF2B5EF4-FFF2-40B4-BE49-F238E27FC236}">
                <a16:creationId xmlns="" xmlns:a16="http://schemas.microsoft.com/office/drawing/2014/main" id="{BF00158B-295D-38F5-DE14-BB3B8B40DA6F}"/>
              </a:ext>
            </a:extLst>
          </p:cNvPr>
          <p:cNvCxnSpPr>
            <a:cxnSpLocks/>
          </p:cNvCxnSpPr>
          <p:nvPr/>
        </p:nvCxnSpPr>
        <p:spPr>
          <a:xfrm>
            <a:off x="278298" y="1372663"/>
            <a:ext cx="1766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44">
            <a:extLst>
              <a:ext uri="{FF2B5EF4-FFF2-40B4-BE49-F238E27FC236}">
                <a16:creationId xmlns="" xmlns:a16="http://schemas.microsoft.com/office/drawing/2014/main" id="{F8E93121-45A3-C332-5D9E-B4176BA31729}"/>
              </a:ext>
            </a:extLst>
          </p:cNvPr>
          <p:cNvCxnSpPr>
            <a:cxnSpLocks/>
          </p:cNvCxnSpPr>
          <p:nvPr/>
        </p:nvCxnSpPr>
        <p:spPr>
          <a:xfrm>
            <a:off x="2499542" y="1370145"/>
            <a:ext cx="3892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[R] 17">
            <a:extLst>
              <a:ext uri="{FF2B5EF4-FFF2-40B4-BE49-F238E27FC236}">
                <a16:creationId xmlns="" xmlns:a16="http://schemas.microsoft.com/office/drawing/2014/main" id="{D86A6025-DA27-F2CB-D033-6F6D7DD816CC}"/>
              </a:ext>
            </a:extLst>
          </p:cNvPr>
          <p:cNvCxnSpPr>
            <a:cxnSpLocks/>
          </p:cNvCxnSpPr>
          <p:nvPr/>
        </p:nvCxnSpPr>
        <p:spPr>
          <a:xfrm>
            <a:off x="6682154" y="1372663"/>
            <a:ext cx="23273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25">
            <a:extLst>
              <a:ext uri="{FF2B5EF4-FFF2-40B4-BE49-F238E27FC236}">
                <a16:creationId xmlns="" xmlns:a16="http://schemas.microsoft.com/office/drawing/2014/main" id="{BF16D9B4-37DA-E3E0-A972-C9A6801A7C77}"/>
              </a:ext>
            </a:extLst>
          </p:cNvPr>
          <p:cNvSpPr/>
          <p:nvPr/>
        </p:nvSpPr>
        <p:spPr>
          <a:xfrm>
            <a:off x="278298" y="1580369"/>
            <a:ext cx="1783199" cy="82872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prstClr val="black"/>
                </a:solidFill>
              </a:rPr>
              <a:t>① 공공</a:t>
            </a:r>
            <a:r>
              <a:rPr lang="en-US" altLang="ko-KR" sz="1400">
                <a:solidFill>
                  <a:prstClr val="black"/>
                </a:solidFill>
              </a:rPr>
              <a:t>·</a:t>
            </a:r>
            <a:r>
              <a:rPr lang="ko-KR" altLang="en-US" sz="1400">
                <a:solidFill>
                  <a:prstClr val="black"/>
                </a:solidFill>
              </a:rPr>
              <a:t>민간 공사 </a:t>
            </a:r>
            <a:endParaRPr lang="en-US" altLang="ko-KR" sz="1400" smtClean="0">
              <a:solidFill>
                <a:prstClr val="black"/>
              </a:solidFill>
            </a:endParaRPr>
          </a:p>
          <a:p>
            <a:pPr algn="ctr"/>
            <a:r>
              <a:rPr lang="en-US" altLang="ko-KR" sz="1400">
                <a:solidFill>
                  <a:prstClr val="black"/>
                </a:solidFill>
              </a:rPr>
              <a:t> </a:t>
            </a:r>
            <a:r>
              <a:rPr lang="ko-KR" altLang="en-US" sz="1400" smtClean="0">
                <a:solidFill>
                  <a:prstClr val="black"/>
                </a:solidFill>
              </a:rPr>
              <a:t>수주 </a:t>
            </a:r>
            <a:r>
              <a:rPr lang="ko-KR" altLang="en-US" sz="1400">
                <a:solidFill>
                  <a:prstClr val="black"/>
                </a:solidFill>
              </a:rPr>
              <a:t>경쟁력 강화</a:t>
            </a:r>
            <a:endParaRPr kumimoji="1" lang="x-none" altLang="en-US" sz="14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38" name="직사각형 27">
            <a:extLst>
              <a:ext uri="{FF2B5EF4-FFF2-40B4-BE49-F238E27FC236}">
                <a16:creationId xmlns="" xmlns:a16="http://schemas.microsoft.com/office/drawing/2014/main" id="{15BDE897-2629-A9BD-5021-EC75C2D221FD}"/>
              </a:ext>
            </a:extLst>
          </p:cNvPr>
          <p:cNvSpPr/>
          <p:nvPr/>
        </p:nvSpPr>
        <p:spPr>
          <a:xfrm>
            <a:off x="2499542" y="1580369"/>
            <a:ext cx="3892466" cy="82872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2250" lvl="1" indent="-1317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prstClr val="black"/>
                </a:solidFill>
              </a:rPr>
              <a:t>입찰 정보 수집 </a:t>
            </a:r>
            <a:r>
              <a:rPr lang="ko-KR" altLang="en-US" sz="1200" smtClean="0">
                <a:solidFill>
                  <a:prstClr val="black"/>
                </a:solidFill>
              </a:rPr>
              <a:t>체계화</a:t>
            </a:r>
            <a:endParaRPr lang="en-US" altLang="ko-KR" sz="1200" smtClean="0">
              <a:solidFill>
                <a:prstClr val="black"/>
              </a:solidFill>
            </a:endParaRPr>
          </a:p>
          <a:p>
            <a:pPr marL="222250" lvl="1" indent="-1317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prstClr val="black"/>
                </a:solidFill>
              </a:rPr>
              <a:t>공사관리 품질 강화</a:t>
            </a:r>
            <a:endParaRPr lang="x-none" altLang="en-US" sz="1200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40" name="직사각형 29">
            <a:extLst>
              <a:ext uri="{FF2B5EF4-FFF2-40B4-BE49-F238E27FC236}">
                <a16:creationId xmlns="" xmlns:a16="http://schemas.microsoft.com/office/drawing/2014/main" id="{A7B808DD-843B-19D0-E2E9-5E644137D168}"/>
              </a:ext>
            </a:extLst>
          </p:cNvPr>
          <p:cNvSpPr/>
          <p:nvPr/>
        </p:nvSpPr>
        <p:spPr>
          <a:xfrm>
            <a:off x="6682154" y="1580369"/>
            <a:ext cx="2327358" cy="82872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0488" indent="-9048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prstClr val="black"/>
                </a:solidFill>
              </a:rPr>
              <a:t>공공수주 </a:t>
            </a:r>
            <a:r>
              <a:rPr lang="en-US" altLang="ko-KR" sz="1200">
                <a:solidFill>
                  <a:prstClr val="black"/>
                </a:solidFill>
              </a:rPr>
              <a:t>30% </a:t>
            </a:r>
            <a:r>
              <a:rPr lang="ko-KR" altLang="en-US" sz="1200">
                <a:solidFill>
                  <a:prstClr val="black"/>
                </a:solidFill>
              </a:rPr>
              <a:t>증가</a:t>
            </a:r>
            <a:endParaRPr kumimoji="1" lang="x-none" altLang="en-US" sz="1200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55" name="직사각형 10">
            <a:extLst>
              <a:ext uri="{FF2B5EF4-FFF2-40B4-BE49-F238E27FC236}">
                <a16:creationId xmlns="" xmlns:a16="http://schemas.microsoft.com/office/drawing/2014/main" id="{D3AAE598-DAB9-69E9-B4AD-ED2D150709EC}"/>
              </a:ext>
            </a:extLst>
          </p:cNvPr>
          <p:cNvSpPr/>
          <p:nvPr/>
        </p:nvSpPr>
        <p:spPr>
          <a:xfrm>
            <a:off x="166683" y="161194"/>
            <a:ext cx="973059" cy="471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05</a:t>
            </a:r>
            <a:endParaRPr lang="ko-KR" altLang="en-US" sz="2400" b="1" dirty="0">
              <a:solidFill>
                <a:prstClr val="black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9" name="직사각형 25">
            <a:extLst>
              <a:ext uri="{FF2B5EF4-FFF2-40B4-BE49-F238E27FC236}">
                <a16:creationId xmlns="" xmlns:a16="http://schemas.microsoft.com/office/drawing/2014/main" id="{851FEC84-F0BC-215E-0C63-6C997E17B99A}"/>
              </a:ext>
            </a:extLst>
          </p:cNvPr>
          <p:cNvSpPr/>
          <p:nvPr/>
        </p:nvSpPr>
        <p:spPr>
          <a:xfrm>
            <a:off x="278298" y="2600280"/>
            <a:ext cx="1783199" cy="82872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prstClr val="black"/>
                </a:solidFill>
              </a:rPr>
              <a:t>② 환경</a:t>
            </a:r>
            <a:r>
              <a:rPr lang="en-US" altLang="ko-KR" sz="1400">
                <a:solidFill>
                  <a:prstClr val="black"/>
                </a:solidFill>
              </a:rPr>
              <a:t>·</a:t>
            </a:r>
            <a:r>
              <a:rPr lang="ko-KR" altLang="en-US" sz="1400">
                <a:solidFill>
                  <a:prstClr val="black"/>
                </a:solidFill>
              </a:rPr>
              <a:t>기계 </a:t>
            </a:r>
            <a:r>
              <a:rPr lang="ko-KR" altLang="en-US" sz="1400" smtClean="0">
                <a:solidFill>
                  <a:prstClr val="black"/>
                </a:solidFill>
              </a:rPr>
              <a:t>분야 </a:t>
            </a:r>
            <a:endParaRPr lang="en-US" altLang="ko-KR" sz="1400" smtClean="0">
              <a:solidFill>
                <a:prstClr val="black"/>
              </a:solidFill>
            </a:endParaRPr>
          </a:p>
          <a:p>
            <a:pPr algn="ctr"/>
            <a:r>
              <a:rPr lang="ko-KR" altLang="en-US" sz="1400" smtClean="0">
                <a:solidFill>
                  <a:prstClr val="black"/>
                </a:solidFill>
              </a:rPr>
              <a:t>수주 </a:t>
            </a:r>
            <a:r>
              <a:rPr lang="ko-KR" altLang="en-US" sz="1400">
                <a:solidFill>
                  <a:prstClr val="black"/>
                </a:solidFill>
              </a:rPr>
              <a:t>확대</a:t>
            </a:r>
            <a:endParaRPr kumimoji="1" lang="x-none" altLang="en-US" sz="14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0" name="직사각형 27">
            <a:extLst>
              <a:ext uri="{FF2B5EF4-FFF2-40B4-BE49-F238E27FC236}">
                <a16:creationId xmlns="" xmlns:a16="http://schemas.microsoft.com/office/drawing/2014/main" id="{2F5A76E4-C516-2EEC-E6A8-22FF339C412F}"/>
              </a:ext>
            </a:extLst>
          </p:cNvPr>
          <p:cNvSpPr/>
          <p:nvPr/>
        </p:nvSpPr>
        <p:spPr>
          <a:xfrm>
            <a:off x="2499542" y="2600280"/>
            <a:ext cx="3892466" cy="82872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2250" lvl="1" indent="-1317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prstClr val="black"/>
                </a:solidFill>
              </a:rPr>
              <a:t>기계공사 제안 역량 </a:t>
            </a:r>
            <a:r>
              <a:rPr lang="ko-KR" altLang="en-US" sz="1200" smtClean="0">
                <a:solidFill>
                  <a:prstClr val="black"/>
                </a:solidFill>
              </a:rPr>
              <a:t>강화</a:t>
            </a:r>
            <a:endParaRPr lang="en-US" altLang="ko-KR" sz="1200" smtClean="0">
              <a:solidFill>
                <a:prstClr val="black"/>
              </a:solidFill>
            </a:endParaRPr>
          </a:p>
          <a:p>
            <a:pPr marL="222250" lvl="1" indent="-1317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prstClr val="black"/>
                </a:solidFill>
              </a:rPr>
              <a:t>주요 산업단지</a:t>
            </a:r>
            <a:r>
              <a:rPr lang="en-US" altLang="ko-KR" sz="1200">
                <a:solidFill>
                  <a:prstClr val="black"/>
                </a:solidFill>
              </a:rPr>
              <a:t>·</a:t>
            </a:r>
            <a:r>
              <a:rPr lang="ko-KR" altLang="en-US" sz="1200">
                <a:solidFill>
                  <a:prstClr val="black"/>
                </a:solidFill>
              </a:rPr>
              <a:t>민간시장 </a:t>
            </a:r>
            <a:r>
              <a:rPr lang="ko-KR" altLang="en-US" sz="1200" smtClean="0">
                <a:solidFill>
                  <a:prstClr val="black"/>
                </a:solidFill>
              </a:rPr>
              <a:t>공략</a:t>
            </a:r>
            <a:endParaRPr lang="en-US" altLang="ko-KR" sz="1200" smtClean="0">
              <a:solidFill>
                <a:prstClr val="black"/>
              </a:solidFill>
            </a:endParaRPr>
          </a:p>
          <a:p>
            <a:pPr marL="222250" lvl="1" indent="-1317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prstClr val="black"/>
                </a:solidFill>
              </a:rPr>
              <a:t>협력사 </a:t>
            </a:r>
            <a:r>
              <a:rPr lang="en-US" altLang="ko-KR" sz="1200">
                <a:solidFill>
                  <a:prstClr val="black"/>
                </a:solidFill>
              </a:rPr>
              <a:t>Pool </a:t>
            </a:r>
            <a:r>
              <a:rPr lang="ko-KR" altLang="en-US" sz="1200">
                <a:solidFill>
                  <a:prstClr val="black"/>
                </a:solidFill>
              </a:rPr>
              <a:t>확대 및 품질관리</a:t>
            </a:r>
            <a:endParaRPr lang="x-none" altLang="en-US" sz="1200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1" name="직사각형 29">
            <a:extLst>
              <a:ext uri="{FF2B5EF4-FFF2-40B4-BE49-F238E27FC236}">
                <a16:creationId xmlns="" xmlns:a16="http://schemas.microsoft.com/office/drawing/2014/main" id="{64A2BC3A-C8D4-3D43-7CA6-4C8A57FA80B6}"/>
              </a:ext>
            </a:extLst>
          </p:cNvPr>
          <p:cNvSpPr/>
          <p:nvPr/>
        </p:nvSpPr>
        <p:spPr>
          <a:xfrm>
            <a:off x="6682154" y="2600280"/>
            <a:ext cx="2327358" cy="82872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0488" indent="-9048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200" smtClean="0">
                <a:solidFill>
                  <a:prstClr val="black"/>
                </a:solidFill>
              </a:rPr>
              <a:t>기계공사 수주 </a:t>
            </a:r>
            <a:r>
              <a:rPr lang="en-US" altLang="ko-KR" sz="1200">
                <a:solidFill>
                  <a:prstClr val="black"/>
                </a:solidFill>
              </a:rPr>
              <a:t>50% </a:t>
            </a:r>
            <a:r>
              <a:rPr lang="ko-KR" altLang="en-US" sz="1200" smtClean="0">
                <a:solidFill>
                  <a:prstClr val="black"/>
                </a:solidFill>
              </a:rPr>
              <a:t>증가</a:t>
            </a:r>
            <a:endParaRPr lang="en-US" altLang="ko-KR" sz="1200" smtClean="0">
              <a:solidFill>
                <a:prstClr val="black"/>
              </a:solidFill>
            </a:endParaRPr>
          </a:p>
          <a:p>
            <a:pPr marL="90488" indent="-9048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prstClr val="black"/>
                </a:solidFill>
              </a:rPr>
              <a:t>신규 민간고객사 </a:t>
            </a:r>
            <a:r>
              <a:rPr lang="en-US" altLang="ko-KR" sz="1200" b="1">
                <a:solidFill>
                  <a:prstClr val="black"/>
                </a:solidFill>
              </a:rPr>
              <a:t>3</a:t>
            </a:r>
            <a:r>
              <a:rPr lang="ko-KR" altLang="en-US" sz="1200" b="1">
                <a:solidFill>
                  <a:prstClr val="black"/>
                </a:solidFill>
              </a:rPr>
              <a:t>개 이상 </a:t>
            </a:r>
            <a:r>
              <a:rPr lang="ko-KR" altLang="en-US" sz="1200" b="1" smtClean="0">
                <a:solidFill>
                  <a:prstClr val="black"/>
                </a:solidFill>
              </a:rPr>
              <a:t>확보</a:t>
            </a:r>
            <a:endParaRPr lang="ko-KR" altLang="en-US" sz="1200">
              <a:solidFill>
                <a:prstClr val="black"/>
              </a:solidFill>
            </a:endParaRPr>
          </a:p>
        </p:txBody>
      </p:sp>
      <p:sp>
        <p:nvSpPr>
          <p:cNvPr id="12" name="직사각형 25">
            <a:extLst>
              <a:ext uri="{FF2B5EF4-FFF2-40B4-BE49-F238E27FC236}">
                <a16:creationId xmlns="" xmlns:a16="http://schemas.microsoft.com/office/drawing/2014/main" id="{C86BBF66-1468-F13B-5E33-B250A3C85866}"/>
              </a:ext>
            </a:extLst>
          </p:cNvPr>
          <p:cNvSpPr/>
          <p:nvPr/>
        </p:nvSpPr>
        <p:spPr>
          <a:xfrm>
            <a:off x="278298" y="3620191"/>
            <a:ext cx="1783199" cy="82872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prstClr val="black"/>
                </a:solidFill>
              </a:rPr>
              <a:t>③  위탁운영 </a:t>
            </a:r>
            <a:r>
              <a:rPr lang="ko-KR" altLang="en-US" sz="1400">
                <a:solidFill>
                  <a:prstClr val="black"/>
                </a:solidFill>
              </a:rPr>
              <a:t>사업 </a:t>
            </a:r>
            <a:endParaRPr lang="en-US" altLang="ko-KR" sz="1400" smtClean="0">
              <a:solidFill>
                <a:prstClr val="black"/>
              </a:solidFill>
            </a:endParaRPr>
          </a:p>
          <a:p>
            <a:pPr algn="ctr"/>
            <a:r>
              <a:rPr lang="ko-KR" altLang="en-US" sz="1400" smtClean="0">
                <a:solidFill>
                  <a:prstClr val="black"/>
                </a:solidFill>
              </a:rPr>
              <a:t>포트폴리오 </a:t>
            </a:r>
            <a:r>
              <a:rPr lang="ko-KR" altLang="en-US" sz="1400">
                <a:solidFill>
                  <a:prstClr val="black"/>
                </a:solidFill>
              </a:rPr>
              <a:t>확장</a:t>
            </a:r>
            <a:endParaRPr kumimoji="1" lang="x-none" altLang="en-US" sz="14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3" name="직사각형 27">
            <a:extLst>
              <a:ext uri="{FF2B5EF4-FFF2-40B4-BE49-F238E27FC236}">
                <a16:creationId xmlns="" xmlns:a16="http://schemas.microsoft.com/office/drawing/2014/main" id="{F9E6BAEF-6A93-6E2E-AF41-B99D59F063A1}"/>
              </a:ext>
            </a:extLst>
          </p:cNvPr>
          <p:cNvSpPr/>
          <p:nvPr/>
        </p:nvSpPr>
        <p:spPr>
          <a:xfrm>
            <a:off x="2499542" y="3620191"/>
            <a:ext cx="3892466" cy="82872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2250" lvl="1" indent="-1317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prstClr val="black"/>
                </a:solidFill>
              </a:rPr>
              <a:t>대기환경전문공사업 면허 </a:t>
            </a:r>
            <a:r>
              <a:rPr lang="ko-KR" altLang="en-US" sz="1200" smtClean="0">
                <a:solidFill>
                  <a:prstClr val="black"/>
                </a:solidFill>
              </a:rPr>
              <a:t>취득</a:t>
            </a:r>
            <a:endParaRPr lang="en-US" altLang="ko-KR" sz="1200" smtClean="0">
              <a:solidFill>
                <a:prstClr val="black"/>
              </a:solidFill>
            </a:endParaRPr>
          </a:p>
          <a:p>
            <a:pPr marL="222250" lvl="1" indent="-1317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prstClr val="black"/>
                </a:solidFill>
              </a:rPr>
              <a:t>운영인력 전문성 강화</a:t>
            </a:r>
            <a:endParaRPr lang="x-none" altLang="en-US" sz="1200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4" name="직사각형 29">
            <a:extLst>
              <a:ext uri="{FF2B5EF4-FFF2-40B4-BE49-F238E27FC236}">
                <a16:creationId xmlns="" xmlns:a16="http://schemas.microsoft.com/office/drawing/2014/main" id="{A159F34F-6BDB-82A4-0E1F-3A13A593C8E8}"/>
              </a:ext>
            </a:extLst>
          </p:cNvPr>
          <p:cNvSpPr/>
          <p:nvPr/>
        </p:nvSpPr>
        <p:spPr>
          <a:xfrm>
            <a:off x="6682154" y="3620191"/>
            <a:ext cx="2327358" cy="82872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0488" indent="-9048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prstClr val="black"/>
                </a:solidFill>
              </a:rPr>
              <a:t>대기 분야 운영사업 </a:t>
            </a:r>
            <a:r>
              <a:rPr lang="en-US" altLang="ko-KR" sz="1200">
                <a:solidFill>
                  <a:prstClr val="black"/>
                </a:solidFill>
              </a:rPr>
              <a:t>2</a:t>
            </a:r>
            <a:r>
              <a:rPr lang="ko-KR" altLang="en-US" sz="1200">
                <a:solidFill>
                  <a:prstClr val="black"/>
                </a:solidFill>
              </a:rPr>
              <a:t>건 확보</a:t>
            </a:r>
            <a:endParaRPr kumimoji="1" lang="x-none" altLang="en-US" sz="1200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483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F67E004-27F7-4A8A-A892-A22A5E9C6884}"/>
              </a:ext>
            </a:extLst>
          </p:cNvPr>
          <p:cNvSpPr txBox="1"/>
          <p:nvPr/>
        </p:nvSpPr>
        <p:spPr>
          <a:xfrm>
            <a:off x="1256372" y="214455"/>
            <a:ext cx="775314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2026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년 중점 추진 과제</a:t>
            </a: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_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세부</a:t>
            </a:r>
            <a:endParaRPr lang="en-US" altLang="ko-KR" sz="2400" b="1" dirty="0">
              <a:solidFill>
                <a:prstClr val="black">
                  <a:lumMod val="75000"/>
                  <a:lumOff val="25000"/>
                </a:prst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70" name="직사각형 10">
            <a:extLst>
              <a:ext uri="{FF2B5EF4-FFF2-40B4-BE49-F238E27FC236}">
                <a16:creationId xmlns:a16="http://schemas.microsoft.com/office/drawing/2014/main" xmlns="" id="{7509EF66-F3AF-4C65-E918-551A5A5EA21B}"/>
              </a:ext>
            </a:extLst>
          </p:cNvPr>
          <p:cNvSpPr/>
          <p:nvPr/>
        </p:nvSpPr>
        <p:spPr>
          <a:xfrm>
            <a:off x="166683" y="161194"/>
            <a:ext cx="973059" cy="471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sz="2400" b="1" dirty="0">
                <a:solidFill>
                  <a:prstClr val="black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06</a:t>
            </a:r>
            <a:endParaRPr lang="ko-KR" altLang="en-US" sz="2400" b="1" dirty="0">
              <a:solidFill>
                <a:prstClr val="black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21" name="직사각형 50">
            <a:extLst>
              <a:ext uri="{FF2B5EF4-FFF2-40B4-BE49-F238E27FC236}">
                <a16:creationId xmlns:a16="http://schemas.microsoft.com/office/drawing/2014/main" xmlns="" id="{2CC71B2D-CCB9-7B45-26A2-994A38AFBDC3}"/>
              </a:ext>
            </a:extLst>
          </p:cNvPr>
          <p:cNvSpPr/>
          <p:nvPr/>
        </p:nvSpPr>
        <p:spPr>
          <a:xfrm rot="10800000" flipV="1">
            <a:off x="112010" y="1212349"/>
            <a:ext cx="2441394" cy="31125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>
              <a:defRPr/>
            </a:pPr>
            <a:r>
              <a:rPr lang="ko-KR" altLang="en-US" sz="1200" b="1" kern="0" dirty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추진 배경</a:t>
            </a:r>
          </a:p>
        </p:txBody>
      </p:sp>
      <p:sp>
        <p:nvSpPr>
          <p:cNvPr id="23" name="직사각형 51">
            <a:extLst>
              <a:ext uri="{FF2B5EF4-FFF2-40B4-BE49-F238E27FC236}">
                <a16:creationId xmlns:a16="http://schemas.microsoft.com/office/drawing/2014/main" xmlns="" id="{99C85113-C632-BD5F-6949-D9C87C440375}"/>
              </a:ext>
            </a:extLst>
          </p:cNvPr>
          <p:cNvSpPr/>
          <p:nvPr/>
        </p:nvSpPr>
        <p:spPr>
          <a:xfrm>
            <a:off x="112010" y="1692792"/>
            <a:ext cx="2441394" cy="232112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457200" latinLnBrk="0">
              <a:lnSpc>
                <a:spcPct val="150000"/>
              </a:lnSpc>
              <a:spcBef>
                <a:spcPts val="300"/>
              </a:spcBef>
              <a:defRPr/>
            </a:pPr>
            <a:endParaRPr lang="en-US" altLang="ko-KR" sz="1000" kern="0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24" name="직사각형 56">
            <a:extLst>
              <a:ext uri="{FF2B5EF4-FFF2-40B4-BE49-F238E27FC236}">
                <a16:creationId xmlns:a16="http://schemas.microsoft.com/office/drawing/2014/main" xmlns="" id="{C4FABFA3-6862-C492-6369-C01C5E20A880}"/>
              </a:ext>
            </a:extLst>
          </p:cNvPr>
          <p:cNvSpPr/>
          <p:nvPr/>
        </p:nvSpPr>
        <p:spPr>
          <a:xfrm>
            <a:off x="2691549" y="1692792"/>
            <a:ext cx="3586159" cy="233817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96838" indent="-96838" defTabSz="45720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000" kern="0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25" name="직사각형 57">
            <a:extLst>
              <a:ext uri="{FF2B5EF4-FFF2-40B4-BE49-F238E27FC236}">
                <a16:creationId xmlns:a16="http://schemas.microsoft.com/office/drawing/2014/main" xmlns="" id="{7E0DC62E-4A3F-1454-7104-693AE5AF9A8D}"/>
              </a:ext>
            </a:extLst>
          </p:cNvPr>
          <p:cNvSpPr/>
          <p:nvPr/>
        </p:nvSpPr>
        <p:spPr>
          <a:xfrm>
            <a:off x="112011" y="4251660"/>
            <a:ext cx="658009" cy="233817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>
              <a:defRPr/>
            </a:pPr>
            <a:r>
              <a:rPr lang="ko-KR" altLang="en-US" sz="1200" b="1" kern="0" dirty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추진</a:t>
            </a:r>
            <a:endParaRPr lang="en-US" altLang="ko-KR" sz="1200" b="1" kern="0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  <a:p>
            <a:pPr algn="ctr" defTabSz="457200" latinLnBrk="0">
              <a:defRPr/>
            </a:pPr>
            <a:r>
              <a:rPr lang="ko-KR" altLang="en-US" sz="1200" b="1" kern="0" dirty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일정</a:t>
            </a:r>
          </a:p>
        </p:txBody>
      </p:sp>
      <p:graphicFrame>
        <p:nvGraphicFramePr>
          <p:cNvPr id="26" name="표 58">
            <a:extLst>
              <a:ext uri="{FF2B5EF4-FFF2-40B4-BE49-F238E27FC236}">
                <a16:creationId xmlns:a16="http://schemas.microsoft.com/office/drawing/2014/main" xmlns="" id="{4E99A365-AEA7-E4E6-CB4C-293639152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671696"/>
              </p:ext>
            </p:extLst>
          </p:nvPr>
        </p:nvGraphicFramePr>
        <p:xfrm>
          <a:off x="789789" y="4276197"/>
          <a:ext cx="8123552" cy="2321125"/>
        </p:xfrm>
        <a:graphic>
          <a:graphicData uri="http://schemas.openxmlformats.org/drawingml/2006/table">
            <a:tbl>
              <a:tblPr firstRow="1" bandRow="1"/>
              <a:tblGrid>
                <a:gridCol w="2025100">
                  <a:extLst>
                    <a:ext uri="{9D8B030D-6E8A-4147-A177-3AD203B41FA5}">
                      <a16:colId xmlns:a16="http://schemas.microsoft.com/office/drawing/2014/main" xmlns="" val="1264990350"/>
                    </a:ext>
                  </a:extLst>
                </a:gridCol>
                <a:gridCol w="2025100">
                  <a:extLst>
                    <a:ext uri="{9D8B030D-6E8A-4147-A177-3AD203B41FA5}">
                      <a16:colId xmlns:a16="http://schemas.microsoft.com/office/drawing/2014/main" xmlns="" val="1972653536"/>
                    </a:ext>
                  </a:extLst>
                </a:gridCol>
                <a:gridCol w="2025100">
                  <a:extLst>
                    <a:ext uri="{9D8B030D-6E8A-4147-A177-3AD203B41FA5}">
                      <a16:colId xmlns:a16="http://schemas.microsoft.com/office/drawing/2014/main" xmlns="" val="2377081062"/>
                    </a:ext>
                  </a:extLst>
                </a:gridCol>
                <a:gridCol w="2048252">
                  <a:extLst>
                    <a:ext uri="{9D8B030D-6E8A-4147-A177-3AD203B41FA5}">
                      <a16:colId xmlns:a16="http://schemas.microsoft.com/office/drawing/2014/main" xmlns="" val="3035295849"/>
                    </a:ext>
                  </a:extLst>
                </a:gridCol>
              </a:tblGrid>
              <a:tr h="3285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7957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‘26. 1Q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2Q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3Q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4Q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49680093"/>
                  </a:ext>
                </a:extLst>
              </a:tr>
              <a:tr h="6642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0505266"/>
                  </a:ext>
                </a:extLst>
              </a:tr>
              <a:tr h="6642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0057832"/>
                  </a:ext>
                </a:extLst>
              </a:tr>
              <a:tr h="66420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86755" marR="86755" marT="43377" marB="433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3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60292290"/>
                  </a:ext>
                </a:extLst>
              </a:tr>
            </a:tbl>
          </a:graphicData>
        </a:graphic>
      </p:graphicFrame>
      <p:cxnSp>
        <p:nvCxnSpPr>
          <p:cNvPr id="36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1162191" y="5031802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1256372" y="4706266"/>
            <a:ext cx="11785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발주처 분석</a:t>
            </a:r>
            <a:r>
              <a:rPr lang="en-US" altLang="ko-KR" sz="800">
                <a:solidFill>
                  <a:prstClr val="black"/>
                </a:solidFill>
              </a:rPr>
              <a:t>, </a:t>
            </a:r>
            <a:r>
              <a:rPr lang="ko-KR" altLang="en-US" sz="800" smtClean="0">
                <a:solidFill>
                  <a:prstClr val="black"/>
                </a:solidFill>
              </a:rPr>
              <a:t>입찰계획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3" name="직사각형 50">
            <a:extLst>
              <a:ext uri="{FF2B5EF4-FFF2-40B4-BE49-F238E27FC236}">
                <a16:creationId xmlns:a16="http://schemas.microsoft.com/office/drawing/2014/main" xmlns="" id="{F606A039-C210-A70D-69E4-D3FB30318DA3}"/>
              </a:ext>
            </a:extLst>
          </p:cNvPr>
          <p:cNvSpPr/>
          <p:nvPr/>
        </p:nvSpPr>
        <p:spPr>
          <a:xfrm rot="10800000" flipV="1">
            <a:off x="2691548" y="1206629"/>
            <a:ext cx="3586160" cy="31125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>
              <a:defRPr/>
            </a:pPr>
            <a:r>
              <a:rPr lang="ko-KR" altLang="en-US" sz="1200" b="1" kern="0" dirty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내용</a:t>
            </a:r>
          </a:p>
        </p:txBody>
      </p:sp>
      <p:sp>
        <p:nvSpPr>
          <p:cNvPr id="6" name="직사각형 56">
            <a:extLst>
              <a:ext uri="{FF2B5EF4-FFF2-40B4-BE49-F238E27FC236}">
                <a16:creationId xmlns:a16="http://schemas.microsoft.com/office/drawing/2014/main" xmlns="" id="{1B9B7E9A-AEF1-C849-DE94-4C3D9926A204}"/>
              </a:ext>
            </a:extLst>
          </p:cNvPr>
          <p:cNvSpPr/>
          <p:nvPr/>
        </p:nvSpPr>
        <p:spPr>
          <a:xfrm>
            <a:off x="6448796" y="1692793"/>
            <a:ext cx="2441393" cy="233817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96838" indent="-96838" defTabSz="45720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000" kern="0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7" name="직사각형 50">
            <a:extLst>
              <a:ext uri="{FF2B5EF4-FFF2-40B4-BE49-F238E27FC236}">
                <a16:creationId xmlns:a16="http://schemas.microsoft.com/office/drawing/2014/main" xmlns="" id="{788C8E96-FA22-601F-9377-A5BA6F5957F7}"/>
              </a:ext>
            </a:extLst>
          </p:cNvPr>
          <p:cNvSpPr/>
          <p:nvPr/>
        </p:nvSpPr>
        <p:spPr>
          <a:xfrm rot="10800000" flipV="1">
            <a:off x="6448795" y="1206630"/>
            <a:ext cx="2441394" cy="31125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>
              <a:defRPr/>
            </a:pPr>
            <a:r>
              <a:rPr lang="ko-KR" altLang="en-US" sz="1200" b="1" kern="0" dirty="0">
                <a:solidFill>
                  <a:prstClr val="black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목표 및 기대효과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4061" y="1921332"/>
            <a:ext cx="16754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solidFill>
                  <a:prstClr val="black"/>
                </a:solidFill>
              </a:rPr>
              <a:t>① </a:t>
            </a:r>
            <a:r>
              <a:rPr lang="ko-KR" altLang="en-US" sz="1200" smtClean="0">
                <a:solidFill>
                  <a:prstClr val="black"/>
                </a:solidFill>
              </a:rPr>
              <a:t>공공공사 입찰 </a:t>
            </a:r>
            <a:r>
              <a:rPr lang="ko-KR" altLang="en-US" sz="1200">
                <a:solidFill>
                  <a:prstClr val="black"/>
                </a:solidFill>
              </a:rPr>
              <a:t>확대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724492" y="1845663"/>
            <a:ext cx="3691361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prstClr val="black"/>
                </a:solidFill>
              </a:rPr>
              <a:t>공공 </a:t>
            </a:r>
            <a:r>
              <a:rPr lang="ko-KR" altLang="en-US" sz="1000" dirty="0" err="1">
                <a:solidFill>
                  <a:prstClr val="black"/>
                </a:solidFill>
              </a:rPr>
              <a:t>발주처</a:t>
            </a:r>
            <a:r>
              <a:rPr lang="ko-KR" altLang="en-US" sz="1000" dirty="0">
                <a:solidFill>
                  <a:prstClr val="black"/>
                </a:solidFill>
              </a:rPr>
              <a:t> 정보 수집 및 월간 입찰 </a:t>
            </a:r>
            <a:r>
              <a:rPr lang="ko-KR" altLang="en-US" sz="1000" dirty="0" smtClean="0">
                <a:solidFill>
                  <a:prstClr val="black"/>
                </a:solidFill>
              </a:rPr>
              <a:t>계획 구축</a:t>
            </a:r>
            <a:endParaRPr lang="en-US" altLang="ko-KR" sz="1000" dirty="0" smtClean="0">
              <a:solidFill>
                <a:prstClr val="black"/>
              </a:solidFill>
            </a:endParaRPr>
          </a:p>
          <a:p>
            <a:r>
              <a:rPr lang="ko-KR" altLang="en-US" sz="1000" dirty="0">
                <a:solidFill>
                  <a:prstClr val="black"/>
                </a:solidFill>
              </a:rPr>
              <a:t>기관</a:t>
            </a:r>
            <a:r>
              <a:rPr lang="en-US" altLang="ko-KR" sz="1000" dirty="0">
                <a:solidFill>
                  <a:prstClr val="black"/>
                </a:solidFill>
              </a:rPr>
              <a:t>·</a:t>
            </a:r>
            <a:r>
              <a:rPr lang="ko-KR" altLang="en-US" sz="1000" dirty="0" err="1">
                <a:solidFill>
                  <a:prstClr val="black"/>
                </a:solidFill>
              </a:rPr>
              <a:t>발주처</a:t>
            </a:r>
            <a:r>
              <a:rPr lang="ko-KR" altLang="en-US" sz="1000" dirty="0">
                <a:solidFill>
                  <a:prstClr val="black"/>
                </a:solidFill>
              </a:rPr>
              <a:t> 대상 영업 접점 확대</a:t>
            </a:r>
            <a:r>
              <a:rPr lang="en-US" altLang="ko-KR" sz="1000" dirty="0" smtClean="0">
                <a:solidFill>
                  <a:prstClr val="black"/>
                </a:solidFill>
              </a:rPr>
              <a:t>(</a:t>
            </a:r>
            <a:r>
              <a:rPr lang="ko-KR" altLang="en-US" sz="1000" dirty="0" smtClean="0">
                <a:solidFill>
                  <a:prstClr val="black"/>
                </a:solidFill>
              </a:rPr>
              <a:t>네트워크 </a:t>
            </a:r>
            <a:r>
              <a:rPr lang="ko-KR" altLang="en-US" sz="1000" dirty="0">
                <a:solidFill>
                  <a:prstClr val="black"/>
                </a:solidFill>
              </a:rPr>
              <a:t>구축</a:t>
            </a:r>
            <a:r>
              <a:rPr lang="en-US" altLang="ko-KR" sz="1000" dirty="0" smtClean="0">
                <a:solidFill>
                  <a:prstClr val="black"/>
                </a:solidFill>
              </a:rPr>
              <a:t>)</a:t>
            </a:r>
          </a:p>
          <a:p>
            <a:r>
              <a:rPr lang="ko-KR" altLang="en-US" sz="1000" dirty="0">
                <a:solidFill>
                  <a:prstClr val="black"/>
                </a:solidFill>
              </a:rPr>
              <a:t>입찰대행업체 다변화로 수주 확대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448795" y="1896618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dirty="0">
                <a:solidFill>
                  <a:prstClr val="black"/>
                </a:solidFill>
              </a:rPr>
              <a:t>공공</a:t>
            </a:r>
            <a:r>
              <a:rPr lang="en-US" altLang="ko-KR" sz="1000" dirty="0">
                <a:solidFill>
                  <a:prstClr val="black"/>
                </a:solidFill>
              </a:rPr>
              <a:t>·</a:t>
            </a:r>
            <a:r>
              <a:rPr lang="ko-KR" altLang="en-US" sz="1000" dirty="0">
                <a:solidFill>
                  <a:prstClr val="black"/>
                </a:solidFill>
              </a:rPr>
              <a:t>민간 공사 수주 </a:t>
            </a:r>
            <a:r>
              <a:rPr lang="ko-KR" altLang="en-US" sz="1000" b="1" dirty="0" smtClean="0">
                <a:solidFill>
                  <a:prstClr val="black"/>
                </a:solidFill>
              </a:rPr>
              <a:t>전년대비 </a:t>
            </a:r>
            <a:r>
              <a:rPr lang="en-US" altLang="ko-KR" sz="1000" b="1" dirty="0">
                <a:solidFill>
                  <a:prstClr val="black"/>
                </a:solidFill>
              </a:rPr>
              <a:t>30% </a:t>
            </a:r>
            <a:r>
              <a:rPr lang="ko-KR" altLang="en-US" sz="1000" b="1" dirty="0" smtClean="0">
                <a:solidFill>
                  <a:prstClr val="black"/>
                </a:solidFill>
              </a:rPr>
              <a:t>증가</a:t>
            </a:r>
            <a:endParaRPr lang="ko-KR" altLang="en-US" sz="1000" dirty="0">
              <a:solidFill>
                <a:prstClr val="black"/>
              </a:solidFill>
            </a:endParaRPr>
          </a:p>
        </p:txBody>
      </p:sp>
      <p:cxnSp>
        <p:nvCxnSpPr>
          <p:cNvPr id="20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3063004" y="5028697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2874269" y="4690143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공공</a:t>
            </a:r>
            <a:r>
              <a:rPr lang="en-US" altLang="ko-KR" sz="800">
                <a:solidFill>
                  <a:prstClr val="black"/>
                </a:solidFill>
              </a:rPr>
              <a:t>·</a:t>
            </a:r>
            <a:r>
              <a:rPr lang="ko-KR" altLang="en-US" sz="800">
                <a:solidFill>
                  <a:prstClr val="black"/>
                </a:solidFill>
              </a:rPr>
              <a:t>민간 입찰 집중 </a:t>
            </a:r>
            <a:r>
              <a:rPr lang="ko-KR" altLang="en-US" sz="800" smtClean="0">
                <a:solidFill>
                  <a:prstClr val="black"/>
                </a:solidFill>
              </a:rPr>
              <a:t>참여</a:t>
            </a:r>
            <a:r>
              <a:rPr lang="en-US" altLang="ko-KR" sz="800" smtClean="0">
                <a:solidFill>
                  <a:prstClr val="black"/>
                </a:solidFill>
              </a:rPr>
              <a:t>, </a:t>
            </a:r>
            <a:br>
              <a:rPr lang="en-US" altLang="ko-KR" sz="800" smtClean="0">
                <a:solidFill>
                  <a:prstClr val="black"/>
                </a:solidFill>
              </a:rPr>
            </a:br>
            <a:r>
              <a:rPr lang="ko-KR" altLang="en-US" sz="800" smtClean="0">
                <a:solidFill>
                  <a:prstClr val="black"/>
                </a:solidFill>
              </a:rPr>
              <a:t>수주영업</a:t>
            </a:r>
            <a:r>
              <a:rPr lang="en-US" altLang="ko-KR" sz="800">
                <a:solidFill>
                  <a:prstClr val="black"/>
                </a:solidFill>
              </a:rPr>
              <a:t>(</a:t>
            </a:r>
            <a:r>
              <a:rPr lang="ko-KR" altLang="en-US" sz="800">
                <a:solidFill>
                  <a:prstClr val="black"/>
                </a:solidFill>
              </a:rPr>
              <a:t>기관 미팅</a:t>
            </a:r>
            <a:r>
              <a:rPr lang="en-US" altLang="ko-KR" sz="800" smtClean="0">
                <a:solidFill>
                  <a:prstClr val="black"/>
                </a:solidFill>
              </a:rPr>
              <a:t>·</a:t>
            </a:r>
            <a:r>
              <a:rPr lang="ko-KR" altLang="en-US" sz="800" smtClean="0">
                <a:solidFill>
                  <a:prstClr val="black"/>
                </a:solidFill>
              </a:rPr>
              <a:t>견적제안</a:t>
            </a:r>
            <a:r>
              <a:rPr lang="en-US" altLang="ko-KR" sz="800">
                <a:solidFill>
                  <a:prstClr val="black"/>
                </a:solidFill>
              </a:rPr>
              <a:t>) </a:t>
            </a:r>
            <a:r>
              <a:rPr lang="ko-KR" altLang="en-US" sz="800">
                <a:solidFill>
                  <a:prstClr val="black"/>
                </a:solidFill>
              </a:rPr>
              <a:t>확대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cxnSp>
        <p:nvCxnSpPr>
          <p:cNvPr id="27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5160221" y="5028697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5316919" y="4703161"/>
            <a:ext cx="1053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공정</a:t>
            </a:r>
            <a:r>
              <a:rPr lang="en-US" altLang="ko-KR" sz="800">
                <a:solidFill>
                  <a:prstClr val="black"/>
                </a:solidFill>
              </a:rPr>
              <a:t>·</a:t>
            </a:r>
            <a:r>
              <a:rPr lang="ko-KR" altLang="en-US" sz="800">
                <a:solidFill>
                  <a:prstClr val="black"/>
                </a:solidFill>
              </a:rPr>
              <a:t>품질관리 </a:t>
            </a:r>
            <a:r>
              <a:rPr lang="ko-KR" altLang="en-US" sz="800" smtClean="0">
                <a:solidFill>
                  <a:prstClr val="black"/>
                </a:solidFill>
              </a:rPr>
              <a:t>집중</a:t>
            </a:r>
            <a:r>
              <a:rPr lang="en-US" altLang="ko-KR" sz="800" smtClean="0">
                <a:solidFill>
                  <a:prstClr val="black"/>
                </a:solidFill>
              </a:rPr>
              <a:t/>
            </a:r>
            <a:br>
              <a:rPr lang="en-US" altLang="ko-KR" sz="800" smtClean="0">
                <a:solidFill>
                  <a:prstClr val="black"/>
                </a:solidFill>
              </a:rPr>
            </a:br>
            <a:r>
              <a:rPr lang="ko-KR" altLang="en-US" sz="800" smtClean="0">
                <a:solidFill>
                  <a:prstClr val="black"/>
                </a:solidFill>
              </a:rPr>
              <a:t>핵심고객사 발굴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cxnSp>
        <p:nvCxnSpPr>
          <p:cNvPr id="29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7144309" y="5028697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7126280" y="4703161"/>
            <a:ext cx="1402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하반기 발주 공사 집중 </a:t>
            </a:r>
            <a:r>
              <a:rPr lang="ko-KR" altLang="en-US" sz="800" smtClean="0">
                <a:solidFill>
                  <a:prstClr val="black"/>
                </a:solidFill>
              </a:rPr>
              <a:t>대응</a:t>
            </a:r>
            <a:r>
              <a:rPr lang="en-US" altLang="ko-KR" sz="800" smtClean="0">
                <a:solidFill>
                  <a:prstClr val="black"/>
                </a:solidFill>
              </a:rPr>
              <a:t/>
            </a:r>
            <a:br>
              <a:rPr lang="en-US" altLang="ko-KR" sz="800" smtClean="0">
                <a:solidFill>
                  <a:prstClr val="black"/>
                </a:solidFill>
              </a:rPr>
            </a:br>
            <a:r>
              <a:rPr lang="ko-KR" altLang="en-US" sz="800" smtClean="0">
                <a:solidFill>
                  <a:prstClr val="black"/>
                </a:solidFill>
              </a:rPr>
              <a:t>차년도 </a:t>
            </a:r>
            <a:r>
              <a:rPr lang="ko-KR" altLang="en-US" sz="800">
                <a:solidFill>
                  <a:prstClr val="black"/>
                </a:solidFill>
              </a:rPr>
              <a:t>입찰 전략 수립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cxnSp>
        <p:nvCxnSpPr>
          <p:cNvPr id="31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1153819" y="5706715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868090" y="5381179"/>
            <a:ext cx="1938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기계공사 기술제안서 </a:t>
            </a:r>
            <a:r>
              <a:rPr lang="ko-KR" altLang="en-US" sz="800" smtClean="0">
                <a:solidFill>
                  <a:prstClr val="black"/>
                </a:solidFill>
              </a:rPr>
              <a:t>개발</a:t>
            </a:r>
            <a:endParaRPr lang="en-US" altLang="ko-KR" sz="800" smtClean="0">
              <a:solidFill>
                <a:prstClr val="black"/>
              </a:solidFill>
            </a:endParaRPr>
          </a:p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타깃시장 리스트업 및 세일즈 전략 수립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cxnSp>
        <p:nvCxnSpPr>
          <p:cNvPr id="33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3054632" y="5703610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3039022" y="5365056"/>
            <a:ext cx="1406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협력업체 </a:t>
            </a:r>
            <a:r>
              <a:rPr lang="en-US" altLang="ko-KR" sz="800">
                <a:solidFill>
                  <a:prstClr val="black"/>
                </a:solidFill>
              </a:rPr>
              <a:t>Pool </a:t>
            </a:r>
            <a:r>
              <a:rPr lang="ko-KR" altLang="en-US" sz="800" smtClean="0">
                <a:solidFill>
                  <a:prstClr val="black"/>
                </a:solidFill>
              </a:rPr>
              <a:t>구성</a:t>
            </a:r>
            <a:endParaRPr lang="en-US" altLang="ko-KR" sz="800" smtClean="0">
              <a:solidFill>
                <a:prstClr val="black"/>
              </a:solidFill>
            </a:endParaRPr>
          </a:p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민간</a:t>
            </a:r>
            <a:r>
              <a:rPr lang="en-US" altLang="ko-KR" sz="800">
                <a:solidFill>
                  <a:prstClr val="black"/>
                </a:solidFill>
              </a:rPr>
              <a:t>·</a:t>
            </a:r>
            <a:r>
              <a:rPr lang="ko-KR" altLang="en-US" sz="800">
                <a:solidFill>
                  <a:prstClr val="black"/>
                </a:solidFill>
              </a:rPr>
              <a:t>산단 대상 영업 본격화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cxnSp>
        <p:nvCxnSpPr>
          <p:cNvPr id="35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5151849" y="5703610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5183513" y="5378074"/>
            <a:ext cx="1303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신규 고객 발굴 </a:t>
            </a:r>
            <a:r>
              <a:rPr lang="ko-KR" altLang="en-US" sz="800" smtClean="0">
                <a:solidFill>
                  <a:prstClr val="black"/>
                </a:solidFill>
              </a:rPr>
              <a:t>강화</a:t>
            </a:r>
            <a:endParaRPr lang="en-US" altLang="ko-KR" sz="800" smtClean="0">
              <a:solidFill>
                <a:prstClr val="black"/>
              </a:solidFill>
            </a:endParaRPr>
          </a:p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기술</a:t>
            </a:r>
            <a:r>
              <a:rPr lang="en-US" altLang="ko-KR" sz="800">
                <a:solidFill>
                  <a:prstClr val="black"/>
                </a:solidFill>
              </a:rPr>
              <a:t>·</a:t>
            </a:r>
            <a:r>
              <a:rPr lang="ko-KR" altLang="en-US" sz="800">
                <a:solidFill>
                  <a:prstClr val="black"/>
                </a:solidFill>
              </a:rPr>
              <a:t>품질 기반 영업 확대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cxnSp>
        <p:nvCxnSpPr>
          <p:cNvPr id="39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7135937" y="5703610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7004095" y="5378074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연간 성과 분석 및 협력업체 </a:t>
            </a:r>
            <a:r>
              <a:rPr lang="ko-KR" altLang="en-US" sz="800" smtClean="0">
                <a:solidFill>
                  <a:prstClr val="black"/>
                </a:solidFill>
              </a:rPr>
              <a:t>평가</a:t>
            </a:r>
            <a:endParaRPr lang="en-US" altLang="ko-KR" sz="800" smtClean="0">
              <a:solidFill>
                <a:prstClr val="black"/>
              </a:solidFill>
            </a:endParaRPr>
          </a:p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차년도 신규 시장 진출 계획 수립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cxnSp>
        <p:nvCxnSpPr>
          <p:cNvPr id="41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1163871" y="6349806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743489" y="6024270"/>
            <a:ext cx="2207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대기분야 면허 취득 준비</a:t>
            </a:r>
            <a:r>
              <a:rPr lang="en-US" altLang="ko-KR" sz="800">
                <a:solidFill>
                  <a:prstClr val="black"/>
                </a:solidFill>
              </a:rPr>
              <a:t>(</a:t>
            </a:r>
            <a:r>
              <a:rPr lang="ko-KR" altLang="en-US" sz="800">
                <a:solidFill>
                  <a:prstClr val="black"/>
                </a:solidFill>
              </a:rPr>
              <a:t>기술자</a:t>
            </a:r>
            <a:r>
              <a:rPr lang="en-US" altLang="ko-KR" sz="800">
                <a:solidFill>
                  <a:prstClr val="black"/>
                </a:solidFill>
              </a:rPr>
              <a:t>·</a:t>
            </a:r>
            <a:r>
              <a:rPr lang="ko-KR" altLang="en-US" sz="800">
                <a:solidFill>
                  <a:prstClr val="black"/>
                </a:solidFill>
              </a:rPr>
              <a:t>자본금 점검</a:t>
            </a:r>
            <a:r>
              <a:rPr lang="en-US" altLang="ko-KR" sz="800" smtClean="0">
                <a:solidFill>
                  <a:prstClr val="black"/>
                </a:solidFill>
              </a:rPr>
              <a:t>)</a:t>
            </a:r>
          </a:p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관련 시장 조사 및 잠재고객 리스트업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cxnSp>
        <p:nvCxnSpPr>
          <p:cNvPr id="43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3064684" y="6346701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3039455" y="6008147"/>
            <a:ext cx="14253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면허 취득 및 기술 역량 확보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cxnSp>
        <p:nvCxnSpPr>
          <p:cNvPr id="45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5161901" y="6346701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5090973" y="6021165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공공</a:t>
            </a:r>
            <a:r>
              <a:rPr lang="en-US" altLang="ko-KR" sz="800">
                <a:solidFill>
                  <a:prstClr val="black"/>
                </a:solidFill>
              </a:rPr>
              <a:t>·</a:t>
            </a:r>
            <a:r>
              <a:rPr lang="ko-KR" altLang="en-US" sz="800">
                <a:solidFill>
                  <a:prstClr val="black"/>
                </a:solidFill>
              </a:rPr>
              <a:t>민간 운영사업 입찰 참여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cxnSp>
        <p:nvCxnSpPr>
          <p:cNvPr id="47" name="직선 화살표 연결선 61">
            <a:extLst>
              <a:ext uri="{FF2B5EF4-FFF2-40B4-BE49-F238E27FC236}">
                <a16:creationId xmlns:a16="http://schemas.microsoft.com/office/drawing/2014/main" xmlns="" id="{F89F903D-EE68-4689-17E6-3934245AFD47}"/>
              </a:ext>
            </a:extLst>
          </p:cNvPr>
          <p:cNvCxnSpPr>
            <a:cxnSpLocks/>
          </p:cNvCxnSpPr>
          <p:nvPr/>
        </p:nvCxnSpPr>
        <p:spPr>
          <a:xfrm>
            <a:off x="7145989" y="6346701"/>
            <a:ext cx="134513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triangle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556D3B85-7232-A50A-9ADE-F453E87F8EC0}"/>
              </a:ext>
            </a:extLst>
          </p:cNvPr>
          <p:cNvSpPr txBox="1"/>
          <p:nvPr/>
        </p:nvSpPr>
        <p:spPr>
          <a:xfrm>
            <a:off x="6849038" y="6021165"/>
            <a:ext cx="1960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신규 운영사업 </a:t>
            </a:r>
            <a:r>
              <a:rPr lang="en-US" altLang="ko-KR" sz="800">
                <a:solidFill>
                  <a:prstClr val="black"/>
                </a:solidFill>
              </a:rPr>
              <a:t>2</a:t>
            </a:r>
            <a:r>
              <a:rPr lang="ko-KR" altLang="en-US" sz="800">
                <a:solidFill>
                  <a:prstClr val="black"/>
                </a:solidFill>
              </a:rPr>
              <a:t>건 </a:t>
            </a:r>
            <a:r>
              <a:rPr lang="ko-KR" altLang="en-US" sz="800" smtClean="0">
                <a:solidFill>
                  <a:prstClr val="black"/>
                </a:solidFill>
              </a:rPr>
              <a:t>확보</a:t>
            </a:r>
            <a:endParaRPr lang="en-US" altLang="ko-KR" sz="800" smtClean="0">
              <a:solidFill>
                <a:prstClr val="black"/>
              </a:solidFill>
            </a:endParaRPr>
          </a:p>
          <a:p>
            <a:pPr algn="ctr" defTabSz="867583"/>
            <a:r>
              <a:rPr lang="ko-KR" altLang="en-US" sz="800">
                <a:solidFill>
                  <a:prstClr val="black"/>
                </a:solidFill>
              </a:rPr>
              <a:t>연간 성과 검토 및 차년도 확장계획 수립</a:t>
            </a:r>
            <a:endParaRPr lang="en-US" altLang="ko-KR" sz="700" b="1" dirty="0">
              <a:solidFill>
                <a:prstClr val="black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74109" y="2575212"/>
            <a:ext cx="2053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solidFill>
                  <a:prstClr val="black"/>
                </a:solidFill>
              </a:rPr>
              <a:t>② </a:t>
            </a:r>
            <a:r>
              <a:rPr lang="ko-KR" altLang="en-US" sz="1200" smtClean="0">
                <a:solidFill>
                  <a:prstClr val="black"/>
                </a:solidFill>
              </a:rPr>
              <a:t>기계분야 </a:t>
            </a:r>
            <a:r>
              <a:rPr lang="ko-KR" altLang="en-US" sz="1200">
                <a:solidFill>
                  <a:prstClr val="black"/>
                </a:solidFill>
              </a:rPr>
              <a:t>전문성 </a:t>
            </a:r>
            <a:r>
              <a:rPr lang="ko-KR" altLang="en-US" sz="1200" smtClean="0">
                <a:solidFill>
                  <a:prstClr val="black"/>
                </a:solidFill>
              </a:rPr>
              <a:t>강화 및 </a:t>
            </a:r>
            <a:endParaRPr lang="en-US" altLang="ko-KR" sz="1200" smtClean="0">
              <a:solidFill>
                <a:prstClr val="black"/>
              </a:solidFill>
            </a:endParaRPr>
          </a:p>
          <a:p>
            <a:r>
              <a:rPr lang="en-US" altLang="ko-KR" sz="1200">
                <a:solidFill>
                  <a:prstClr val="black"/>
                </a:solidFill>
              </a:rPr>
              <a:t> </a:t>
            </a:r>
            <a:r>
              <a:rPr lang="en-US" altLang="ko-KR" sz="1200" smtClean="0">
                <a:solidFill>
                  <a:prstClr val="black"/>
                </a:solidFill>
              </a:rPr>
              <a:t>    </a:t>
            </a:r>
            <a:r>
              <a:rPr lang="ko-KR" altLang="en-US" sz="1200" smtClean="0">
                <a:solidFill>
                  <a:prstClr val="black"/>
                </a:solidFill>
              </a:rPr>
              <a:t>수요증가</a:t>
            </a:r>
            <a:endParaRPr lang="ko-KR" altLang="en-US" sz="1200">
              <a:solidFill>
                <a:prstClr val="black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2724492" y="2517832"/>
            <a:ext cx="369136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prstClr val="black"/>
                </a:solidFill>
              </a:rPr>
              <a:t>기계공사 제안서 템플릿 개발 및 기술자료 </a:t>
            </a:r>
            <a:r>
              <a:rPr lang="ko-KR" altLang="en-US" sz="1000" dirty="0" smtClean="0">
                <a:solidFill>
                  <a:prstClr val="black"/>
                </a:solidFill>
              </a:rPr>
              <a:t>업그레이드</a:t>
            </a:r>
            <a:endParaRPr lang="en-US" altLang="ko-KR" sz="1000" dirty="0" smtClean="0">
              <a:solidFill>
                <a:prstClr val="black"/>
              </a:solidFill>
            </a:endParaRPr>
          </a:p>
          <a:p>
            <a:r>
              <a:rPr lang="ko-KR" altLang="en-US" sz="1000" dirty="0">
                <a:solidFill>
                  <a:prstClr val="black"/>
                </a:solidFill>
              </a:rPr>
              <a:t>기계</a:t>
            </a:r>
            <a:r>
              <a:rPr lang="en-US" altLang="ko-KR" sz="1000" dirty="0">
                <a:solidFill>
                  <a:prstClr val="black"/>
                </a:solidFill>
              </a:rPr>
              <a:t>·</a:t>
            </a:r>
            <a:r>
              <a:rPr lang="ko-KR" altLang="en-US" sz="1000" dirty="0">
                <a:solidFill>
                  <a:prstClr val="black"/>
                </a:solidFill>
              </a:rPr>
              <a:t>배관 협력업체 </a:t>
            </a:r>
            <a:r>
              <a:rPr lang="en-US" altLang="ko-KR" sz="1000" dirty="0">
                <a:solidFill>
                  <a:prstClr val="black"/>
                </a:solidFill>
              </a:rPr>
              <a:t>Pool </a:t>
            </a:r>
            <a:r>
              <a:rPr lang="ko-KR" altLang="en-US" sz="1000" dirty="0">
                <a:solidFill>
                  <a:prstClr val="black"/>
                </a:solidFill>
              </a:rPr>
              <a:t>구축 및 공장</a:t>
            </a:r>
            <a:r>
              <a:rPr lang="en-US" altLang="ko-KR" sz="1000" dirty="0">
                <a:solidFill>
                  <a:prstClr val="black"/>
                </a:solidFill>
              </a:rPr>
              <a:t>·</a:t>
            </a:r>
            <a:r>
              <a:rPr lang="ko-KR" altLang="en-US" sz="1000" dirty="0">
                <a:solidFill>
                  <a:prstClr val="black"/>
                </a:solidFill>
              </a:rPr>
              <a:t>환경시설 등 타깃 </a:t>
            </a:r>
            <a:r>
              <a:rPr lang="ko-KR" altLang="en-US" sz="1000" dirty="0" err="1">
                <a:solidFill>
                  <a:prstClr val="black"/>
                </a:solidFill>
              </a:rPr>
              <a:t>고객사</a:t>
            </a:r>
            <a:r>
              <a:rPr lang="ko-KR" altLang="en-US" sz="1000" dirty="0">
                <a:solidFill>
                  <a:prstClr val="black"/>
                </a:solidFill>
              </a:rPr>
              <a:t> 집중 영업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6448795" y="2534022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dirty="0">
                <a:solidFill>
                  <a:prstClr val="black"/>
                </a:solidFill>
              </a:rPr>
              <a:t>기계</a:t>
            </a:r>
            <a:r>
              <a:rPr lang="en-US" altLang="ko-KR" sz="1000" dirty="0">
                <a:solidFill>
                  <a:prstClr val="black"/>
                </a:solidFill>
              </a:rPr>
              <a:t>·</a:t>
            </a:r>
            <a:r>
              <a:rPr lang="ko-KR" altLang="en-US" sz="1000" dirty="0">
                <a:solidFill>
                  <a:prstClr val="black"/>
                </a:solidFill>
              </a:rPr>
              <a:t>설비 공사 수주 </a:t>
            </a:r>
            <a:r>
              <a:rPr lang="en-US" altLang="ko-KR" sz="1000" b="1" dirty="0">
                <a:solidFill>
                  <a:prstClr val="black"/>
                </a:solidFill>
              </a:rPr>
              <a:t>50% </a:t>
            </a:r>
            <a:r>
              <a:rPr lang="ko-KR" altLang="en-US" sz="1000" b="1" dirty="0" smtClean="0">
                <a:solidFill>
                  <a:prstClr val="black"/>
                </a:solidFill>
              </a:rPr>
              <a:t>확대</a:t>
            </a:r>
            <a:endParaRPr lang="en-US" altLang="ko-KR" sz="1000" b="1" dirty="0" smtClean="0">
              <a:solidFill>
                <a:prstClr val="black"/>
              </a:solidFill>
            </a:endParaRPr>
          </a:p>
          <a:p>
            <a:r>
              <a:rPr lang="ko-KR" altLang="en-US" sz="1000" dirty="0">
                <a:solidFill>
                  <a:prstClr val="black"/>
                </a:solidFill>
              </a:rPr>
              <a:t>신규 </a:t>
            </a:r>
            <a:r>
              <a:rPr lang="ko-KR" altLang="en-US" sz="1000" dirty="0" err="1">
                <a:solidFill>
                  <a:prstClr val="black"/>
                </a:solidFill>
              </a:rPr>
              <a:t>민간고객사</a:t>
            </a:r>
            <a:r>
              <a:rPr lang="ko-KR" altLang="en-US" sz="1000" dirty="0">
                <a:solidFill>
                  <a:prstClr val="black"/>
                </a:solidFill>
              </a:rPr>
              <a:t> </a:t>
            </a:r>
            <a:r>
              <a:rPr lang="en-US" altLang="ko-KR" sz="1000" b="1" dirty="0">
                <a:solidFill>
                  <a:prstClr val="black"/>
                </a:solidFill>
              </a:rPr>
              <a:t>3</a:t>
            </a:r>
            <a:r>
              <a:rPr lang="ko-KR" altLang="en-US" sz="1000" b="1" dirty="0">
                <a:solidFill>
                  <a:prstClr val="black"/>
                </a:solidFill>
              </a:rPr>
              <a:t>개 이상 확보</a:t>
            </a:r>
            <a:endParaRPr lang="ko-KR" altLang="en-US" sz="1000" dirty="0">
              <a:solidFill>
                <a:prstClr val="black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4061" y="3229092"/>
            <a:ext cx="24320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solidFill>
                  <a:prstClr val="black"/>
                </a:solidFill>
              </a:rPr>
              <a:t>③ 수질 위탁운영 시장 경쟁 </a:t>
            </a:r>
            <a:r>
              <a:rPr lang="ko-KR" altLang="en-US" sz="1200" smtClean="0">
                <a:solidFill>
                  <a:prstClr val="black"/>
                </a:solidFill>
              </a:rPr>
              <a:t>심화</a:t>
            </a:r>
            <a:endParaRPr lang="en-US" altLang="ko-KR" sz="1200" smtClean="0">
              <a:solidFill>
                <a:prstClr val="black"/>
              </a:solidFill>
            </a:endParaRPr>
          </a:p>
          <a:p>
            <a:r>
              <a:rPr lang="ko-KR" altLang="en-US" sz="1200" smtClean="0">
                <a:solidFill>
                  <a:prstClr val="black"/>
                </a:solidFill>
              </a:rPr>
              <a:t>     대기환경전문공사업 </a:t>
            </a:r>
            <a:r>
              <a:rPr lang="ko-KR" altLang="en-US" sz="1200">
                <a:solidFill>
                  <a:prstClr val="black"/>
                </a:solidFill>
              </a:rPr>
              <a:t>진입으로 </a:t>
            </a:r>
            <a:endParaRPr lang="en-US" altLang="ko-KR" sz="1200" smtClean="0">
              <a:solidFill>
                <a:prstClr val="black"/>
              </a:solidFill>
            </a:endParaRPr>
          </a:p>
          <a:p>
            <a:r>
              <a:rPr lang="ko-KR" altLang="en-US" sz="1200" smtClean="0">
                <a:solidFill>
                  <a:prstClr val="black"/>
                </a:solidFill>
              </a:rPr>
              <a:t>     신규시장 </a:t>
            </a:r>
            <a:r>
              <a:rPr lang="ko-KR" altLang="en-US" sz="1200">
                <a:solidFill>
                  <a:prstClr val="black"/>
                </a:solidFill>
              </a:rPr>
              <a:t>확보 필요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724492" y="3230191"/>
            <a:ext cx="36913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err="1">
                <a:solidFill>
                  <a:prstClr val="black"/>
                </a:solidFill>
              </a:rPr>
              <a:t>대기환경전문공사업</a:t>
            </a:r>
            <a:r>
              <a:rPr lang="ko-KR" altLang="en-US" sz="1000" dirty="0">
                <a:solidFill>
                  <a:prstClr val="black"/>
                </a:solidFill>
              </a:rPr>
              <a:t> 면허 취득 준비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기술자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장비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기준 충족</a:t>
            </a:r>
            <a:r>
              <a:rPr lang="en-US" altLang="ko-KR" sz="1000" dirty="0" smtClean="0">
                <a:solidFill>
                  <a:prstClr val="black"/>
                </a:solidFill>
              </a:rPr>
              <a:t>)</a:t>
            </a:r>
          </a:p>
          <a:p>
            <a:r>
              <a:rPr lang="ko-KR" altLang="en-US" sz="1000" dirty="0">
                <a:solidFill>
                  <a:prstClr val="black"/>
                </a:solidFill>
              </a:rPr>
              <a:t>대기오염방지시설 설치</a:t>
            </a:r>
            <a:r>
              <a:rPr lang="en-US" altLang="ko-KR" sz="1000" dirty="0">
                <a:solidFill>
                  <a:prstClr val="black"/>
                </a:solidFill>
              </a:rPr>
              <a:t>·</a:t>
            </a:r>
            <a:r>
              <a:rPr lang="ko-KR" altLang="en-US" sz="1000" dirty="0">
                <a:solidFill>
                  <a:prstClr val="black"/>
                </a:solidFill>
              </a:rPr>
              <a:t>유지</a:t>
            </a:r>
            <a:r>
              <a:rPr lang="en-US" altLang="ko-KR" sz="1000" dirty="0">
                <a:solidFill>
                  <a:prstClr val="black"/>
                </a:solidFill>
              </a:rPr>
              <a:t>·</a:t>
            </a:r>
            <a:r>
              <a:rPr lang="ko-KR" altLang="en-US" sz="1000" dirty="0">
                <a:solidFill>
                  <a:prstClr val="black"/>
                </a:solidFill>
              </a:rPr>
              <a:t>운영 역량 확보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6415853" y="3250286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dirty="0">
                <a:solidFill>
                  <a:prstClr val="black"/>
                </a:solidFill>
              </a:rPr>
              <a:t>대기환경 분야 신규 운영사업 </a:t>
            </a:r>
            <a:r>
              <a:rPr lang="en-US" altLang="ko-KR" sz="1000" b="1" dirty="0">
                <a:solidFill>
                  <a:prstClr val="black"/>
                </a:solidFill>
              </a:rPr>
              <a:t>2</a:t>
            </a:r>
            <a:r>
              <a:rPr lang="ko-KR" altLang="en-US" sz="1000" b="1" dirty="0">
                <a:solidFill>
                  <a:prstClr val="black"/>
                </a:solidFill>
              </a:rPr>
              <a:t>건 이상 </a:t>
            </a:r>
            <a:r>
              <a:rPr lang="ko-KR" altLang="en-US" sz="1000" b="1" dirty="0" smtClean="0">
                <a:solidFill>
                  <a:prstClr val="black"/>
                </a:solidFill>
              </a:rPr>
              <a:t>확보</a:t>
            </a:r>
            <a:endParaRPr lang="en-US" altLang="ko-KR" sz="1000" b="1" dirty="0" smtClean="0">
              <a:solidFill>
                <a:prstClr val="black"/>
              </a:solidFill>
            </a:endParaRPr>
          </a:p>
          <a:p>
            <a:r>
              <a:rPr lang="ko-KR" altLang="en-US" sz="1000" dirty="0">
                <a:solidFill>
                  <a:prstClr val="black"/>
                </a:solidFill>
              </a:rPr>
              <a:t>회사 운영사업 포트폴리오 확장</a:t>
            </a:r>
          </a:p>
        </p:txBody>
      </p:sp>
    </p:spTree>
    <p:extLst>
      <p:ext uri="{BB962C8B-B14F-4D97-AF65-F5344CB8AC3E}">
        <p14:creationId xmlns:p14="http://schemas.microsoft.com/office/powerpoint/2010/main" val="268586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PcWaIeF20GCKRUx0.KHA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PcWaIeF20GCKRUx0.KHAQ"/>
</p:tagLst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9309</TotalTime>
  <Words>993</Words>
  <Application>Microsoft Office PowerPoint</Application>
  <PresentationFormat>화면 슬라이드 쇼(4:3)</PresentationFormat>
  <Paragraphs>263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8" baseType="lpstr">
      <vt:lpstr>HY중고딕</vt:lpstr>
      <vt:lpstr>KoPubWorld돋움체 Bold</vt:lpstr>
      <vt:lpstr>KoPubWorld돋움체 Medium</vt:lpstr>
      <vt:lpstr>KoPubWorld돋움체_Pro Bold</vt:lpstr>
      <vt:lpstr>KoPubWorld돋움체_Pro Medium</vt:lpstr>
      <vt:lpstr>맑은 고딕</vt:lpstr>
      <vt:lpstr>Arial</vt:lpstr>
      <vt:lpstr>Calibri</vt:lpstr>
      <vt:lpstr>Calibri Light</vt:lpstr>
      <vt:lpstr>Verdana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Microsoft 계정</cp:lastModifiedBy>
  <cp:revision>515</cp:revision>
  <cp:lastPrinted>2026-04-08T01:05:33Z</cp:lastPrinted>
  <dcterms:created xsi:type="dcterms:W3CDTF">2022-08-17T08:11:23Z</dcterms:created>
  <dcterms:modified xsi:type="dcterms:W3CDTF">2026-04-08T06:33:38Z</dcterms:modified>
</cp:coreProperties>
</file>