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0" r:id="rId2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606" y="11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38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89DC8-6706-421C-837C-82FD6CE7EB61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B1593-2F20-447D-A408-091C21F854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035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DFC1C5D-877F-479B-9C57-781A56B3A5D1}" type="datetimeFigureOut">
              <a:rPr lang="ko-KR" altLang="en-US" smtClean="0"/>
              <a:pPr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F6D3D1D-4D57-49C6-8194-7D8AFFB82B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07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DFC1C5D-877F-479B-9C57-781A56B3A5D1}" type="datetimeFigureOut">
              <a:rPr lang="ko-KR" altLang="en-US" smtClean="0"/>
              <a:pPr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F6D3D1D-4D57-49C6-8194-7D8AFFB82B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84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DFC1C5D-877F-479B-9C57-781A56B3A5D1}" type="datetimeFigureOut">
              <a:rPr lang="ko-KR" altLang="en-US" smtClean="0"/>
              <a:pPr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F6D3D1D-4D57-49C6-8194-7D8AFFB82B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22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DFC1C5D-877F-479B-9C57-781A56B3A5D1}" type="datetimeFigureOut">
              <a:rPr lang="ko-KR" altLang="en-US" smtClean="0"/>
              <a:pPr/>
              <a:t>2025-11-03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F6D3D1D-4D57-49C6-8194-7D8AFFB82B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66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DFC1C5D-877F-479B-9C57-781A56B3A5D1}" type="datetimeFigureOut">
              <a:rPr lang="ko-KR" altLang="en-US" smtClean="0"/>
              <a:pPr/>
              <a:t>2025-11-03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F6D3D1D-4D57-49C6-8194-7D8AFFB82B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252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DFC1C5D-877F-479B-9C57-781A56B3A5D1}" type="datetimeFigureOut">
              <a:rPr lang="ko-KR" altLang="en-US" smtClean="0"/>
              <a:pPr/>
              <a:t>2025-11-03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F6D3D1D-4D57-49C6-8194-7D8AFFB82B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62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DFC1C5D-877F-479B-9C57-781A56B3A5D1}" type="datetimeFigureOut">
              <a:rPr lang="ko-KR" altLang="en-US" smtClean="0"/>
              <a:pPr/>
              <a:t>2025-11-03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F6D3D1D-4D57-49C6-8194-7D8AFFB82B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64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DFC1C5D-877F-479B-9C57-781A56B3A5D1}" type="datetimeFigureOut">
              <a:rPr lang="ko-KR" altLang="en-US" smtClean="0"/>
              <a:pPr/>
              <a:t>2025-11-03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F6D3D1D-4D57-49C6-8194-7D8AFFB82B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317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DFC1C5D-877F-479B-9C57-781A56B3A5D1}" type="datetimeFigureOut">
              <a:rPr lang="ko-KR" altLang="en-US" smtClean="0"/>
              <a:pPr/>
              <a:t>2025-11-03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F6D3D1D-4D57-49C6-8194-7D8AFFB82B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876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DFC1C5D-877F-479B-9C57-781A56B3A5D1}" type="datetimeFigureOut">
              <a:rPr lang="ko-KR" altLang="en-US" smtClean="0"/>
              <a:pPr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F6D3D1D-4D57-49C6-8194-7D8AFFB82B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00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DFC1C5D-877F-479B-9C57-781A56B3A5D1}" type="datetimeFigureOut">
              <a:rPr lang="ko-KR" altLang="en-US" smtClean="0"/>
              <a:pPr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F6D3D1D-4D57-49C6-8194-7D8AFFB82B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934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="" xmlns:a16="http://schemas.microsoft.com/office/drawing/2014/main" id="{33C6E8A9-925F-B9D2-88F8-606F6D64C8AC}"/>
              </a:ext>
            </a:extLst>
          </p:cNvPr>
          <p:cNvGrpSpPr/>
          <p:nvPr userDrawn="1"/>
        </p:nvGrpSpPr>
        <p:grpSpPr>
          <a:xfrm flipV="1">
            <a:off x="103824" y="500436"/>
            <a:ext cx="9699624" cy="52755"/>
            <a:chOff x="271681" y="520382"/>
            <a:chExt cx="8600638" cy="0"/>
          </a:xfrm>
        </p:grpSpPr>
        <p:cxnSp>
          <p:nvCxnSpPr>
            <p:cNvPr id="8" name="직선 연결선 7">
              <a:extLst>
                <a:ext uri="{FF2B5EF4-FFF2-40B4-BE49-F238E27FC236}">
                  <a16:creationId xmlns="" xmlns:a16="http://schemas.microsoft.com/office/drawing/2014/main" id="{8791B6F5-923F-87A6-D9A7-8B46691A138D}"/>
                </a:ext>
              </a:extLst>
            </p:cNvPr>
            <p:cNvCxnSpPr/>
            <p:nvPr/>
          </p:nvCxnSpPr>
          <p:spPr>
            <a:xfrm>
              <a:off x="271681" y="520382"/>
              <a:ext cx="4300319" cy="0"/>
            </a:xfrm>
            <a:prstGeom prst="line">
              <a:avLst/>
            </a:prstGeom>
            <a:ln w="44450" cmpd="thickThin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="" xmlns:a16="http://schemas.microsoft.com/office/drawing/2014/main" id="{FAD949DD-01C2-A64E-9571-0B04E5207C58}"/>
                </a:ext>
              </a:extLst>
            </p:cNvPr>
            <p:cNvCxnSpPr/>
            <p:nvPr/>
          </p:nvCxnSpPr>
          <p:spPr>
            <a:xfrm>
              <a:off x="4572000" y="520382"/>
              <a:ext cx="4300319" cy="0"/>
            </a:xfrm>
            <a:prstGeom prst="line">
              <a:avLst/>
            </a:prstGeom>
            <a:ln w="44450" cmpd="thickThin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69"/>
          <p:cNvSpPr>
            <a:spLocks noChangeArrowheads="1"/>
          </p:cNvSpPr>
          <p:nvPr userDrawn="1"/>
        </p:nvSpPr>
        <p:spPr bwMode="auto">
          <a:xfrm>
            <a:off x="9194089" y="6579484"/>
            <a:ext cx="661943" cy="235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0"/>
          <a:lstStyle/>
          <a:p>
            <a:pPr algn="r">
              <a:defRPr/>
            </a:pPr>
            <a:r>
              <a:rPr lang="en-US" altLang="ko-KR" sz="7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[ </a:t>
            </a:r>
            <a:fld id="{7F8EB168-2C36-43C7-9A20-885AA2FD33D2}" type="slidenum">
              <a:rPr lang="en-US" altLang="ko-KR" sz="700" b="0" i="1">
                <a:solidFill>
                  <a:schemeClr val="tx1">
                    <a:lumMod val="50000"/>
                    <a:lumOff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pPr algn="r">
                <a:defRPr/>
              </a:pPr>
              <a:t>‹#›</a:t>
            </a:fld>
            <a:r>
              <a:rPr lang="en-US" altLang="ko-KR" sz="700" b="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sz="700" b="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]</a:t>
            </a:r>
            <a:endParaRPr lang="en-US" altLang="ko-KR" sz="700" b="0" i="1" dirty="0">
              <a:solidFill>
                <a:schemeClr val="tx1">
                  <a:lumMod val="50000"/>
                  <a:lumOff val="50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61211" y="58408"/>
            <a:ext cx="1161287" cy="41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0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123036" y="1036331"/>
            <a:ext cx="3829964" cy="231973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anchor="ctr" anchorCtr="0">
            <a:noAutofit/>
          </a:bodyPr>
          <a:lstStyle/>
          <a:p>
            <a:pPr marL="132926" indent="-132926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kern="0" dirty="0">
                <a:latin typeface="+mj-ea"/>
                <a:ea typeface="+mj-ea"/>
                <a:cs typeface="KoPubWorld돋움체 Light" panose="00000300000000000000" pitchFamily="2" charset="-127"/>
              </a:rPr>
              <a:t>기업명 </a:t>
            </a:r>
            <a:r>
              <a:rPr lang="en-US" altLang="ko-KR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: </a:t>
            </a:r>
            <a:r>
              <a:rPr lang="ko-KR" altLang="en-US" sz="1100" kern="0" dirty="0" err="1" smtClean="0">
                <a:latin typeface="+mj-ea"/>
                <a:ea typeface="+mj-ea"/>
                <a:cs typeface="KoPubWorld돋움체 Light" panose="00000300000000000000" pitchFamily="2" charset="-127"/>
              </a:rPr>
              <a:t>환경이엔지</a:t>
            </a:r>
            <a:r>
              <a:rPr lang="ko-KR" altLang="en-US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㈜</a:t>
            </a:r>
            <a:endParaRPr lang="en-US" altLang="ko-KR" sz="1100" kern="0" dirty="0" smtClean="0">
              <a:latin typeface="+mj-ea"/>
              <a:ea typeface="+mj-ea"/>
              <a:cs typeface="KoPubWorld돋움체 Light" panose="00000300000000000000" pitchFamily="2" charset="-127"/>
            </a:endParaRPr>
          </a:p>
          <a:p>
            <a:pPr marL="132926" indent="-132926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설립일 </a:t>
            </a:r>
            <a:r>
              <a:rPr lang="en-US" altLang="ko-KR" sz="1100" kern="0" dirty="0">
                <a:latin typeface="+mj-ea"/>
                <a:ea typeface="+mj-ea"/>
                <a:cs typeface="KoPubWorld돋움체 Light" panose="00000300000000000000" pitchFamily="2" charset="-127"/>
              </a:rPr>
              <a:t>: </a:t>
            </a:r>
            <a:r>
              <a:rPr lang="en-US" altLang="ko-KR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1985</a:t>
            </a:r>
            <a:r>
              <a:rPr lang="ko-KR" altLang="en-US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년</a:t>
            </a:r>
            <a:endParaRPr lang="en-US" altLang="ko-KR" sz="1100" kern="0" dirty="0" smtClean="0">
              <a:latin typeface="+mj-ea"/>
              <a:ea typeface="+mj-ea"/>
              <a:cs typeface="KoPubWorld돋움체 Light" panose="00000300000000000000" pitchFamily="2" charset="-127"/>
            </a:endParaRPr>
          </a:p>
          <a:p>
            <a:pPr marL="132926" indent="-132926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대표이사 </a:t>
            </a:r>
            <a:r>
              <a:rPr lang="en-US" altLang="ko-KR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: </a:t>
            </a:r>
            <a:r>
              <a:rPr lang="ko-KR" altLang="en-US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유창수</a:t>
            </a:r>
            <a:endParaRPr lang="en-US" altLang="ko-KR" sz="1100" kern="0" dirty="0" smtClean="0">
              <a:latin typeface="+mj-ea"/>
              <a:ea typeface="+mj-ea"/>
              <a:cs typeface="KoPubWorld돋움체 Light" panose="00000300000000000000" pitchFamily="2" charset="-127"/>
            </a:endParaRPr>
          </a:p>
          <a:p>
            <a:pPr marL="132926" indent="-132926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주소 </a:t>
            </a:r>
            <a:r>
              <a:rPr lang="en-US" altLang="ko-KR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: </a:t>
            </a:r>
            <a:r>
              <a:rPr lang="ko-KR" altLang="en-US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서울특별시 강남구 </a:t>
            </a:r>
            <a:r>
              <a:rPr lang="ko-KR" altLang="en-US" sz="1100" kern="0" dirty="0" err="1" smtClean="0">
                <a:latin typeface="+mj-ea"/>
                <a:ea typeface="+mj-ea"/>
                <a:cs typeface="KoPubWorld돋움체 Light" panose="00000300000000000000" pitchFamily="2" charset="-127"/>
              </a:rPr>
              <a:t>학동로</a:t>
            </a:r>
            <a:endParaRPr lang="en-US" altLang="ko-KR" sz="1100" kern="0" dirty="0" smtClean="0">
              <a:latin typeface="+mj-ea"/>
              <a:ea typeface="+mj-ea"/>
              <a:cs typeface="KoPubWorld돋움체 Light" panose="00000300000000000000" pitchFamily="2" charset="-127"/>
            </a:endParaRPr>
          </a:p>
          <a:p>
            <a:pPr marL="132926" indent="-132926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자본금 </a:t>
            </a:r>
            <a:r>
              <a:rPr lang="en-US" altLang="ko-KR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: </a:t>
            </a:r>
            <a:r>
              <a:rPr lang="en-US" altLang="ko-KR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1,500</a:t>
            </a:r>
            <a:r>
              <a:rPr lang="ko-KR" altLang="en-US" sz="1100" kern="0" dirty="0" err="1" smtClean="0">
                <a:latin typeface="+mj-ea"/>
                <a:ea typeface="+mj-ea"/>
                <a:cs typeface="KoPubWorld돋움체 Light" panose="00000300000000000000" pitchFamily="2" charset="-127"/>
              </a:rPr>
              <a:t>백만원</a:t>
            </a:r>
            <a:endParaRPr lang="en-US" altLang="ko-KR" sz="1100" kern="0" dirty="0" smtClean="0">
              <a:latin typeface="+mj-ea"/>
              <a:ea typeface="+mj-ea"/>
              <a:cs typeface="KoPubWorld돋움체 Light" panose="00000300000000000000" pitchFamily="2" charset="-127"/>
            </a:endParaRPr>
          </a:p>
          <a:p>
            <a:pPr marL="132926" indent="-132926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홈페이지 </a:t>
            </a:r>
            <a:r>
              <a:rPr lang="en-US" altLang="ko-KR" sz="1100" kern="0" dirty="0">
                <a:latin typeface="+mj-ea"/>
                <a:ea typeface="+mj-ea"/>
                <a:cs typeface="KoPubWorld돋움체 Light" panose="00000300000000000000" pitchFamily="2" charset="-127"/>
              </a:rPr>
              <a:t>: </a:t>
            </a:r>
            <a:r>
              <a:rPr lang="en-US" altLang="ko-KR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www.hk-eng.com</a:t>
            </a:r>
          </a:p>
          <a:p>
            <a:pPr marL="132926" indent="-132926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사업영역 </a:t>
            </a:r>
            <a:r>
              <a:rPr lang="en-US" altLang="ko-KR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: </a:t>
            </a:r>
            <a:r>
              <a:rPr lang="ko-KR" altLang="en-US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기계 및 설비 시공</a:t>
            </a:r>
            <a:endParaRPr lang="en-US" altLang="ko-KR" sz="1100" kern="0" dirty="0" smtClean="0">
              <a:latin typeface="+mj-ea"/>
              <a:ea typeface="+mj-ea"/>
              <a:cs typeface="KoPubWorld돋움체 Light" panose="000003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FB7FA53D-D88D-41BA-9FBD-21E4F16DE9DB}"/>
              </a:ext>
            </a:extLst>
          </p:cNvPr>
          <p:cNvSpPr/>
          <p:nvPr/>
        </p:nvSpPr>
        <p:spPr>
          <a:xfrm>
            <a:off x="230836" y="1036331"/>
            <a:ext cx="792000" cy="23197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spc="-60" dirty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KoPubWorld돋움체 Bold" panose="00000800000000000000" pitchFamily="2" charset="-127"/>
              </a:rPr>
              <a:t>기업</a:t>
            </a:r>
            <a:endParaRPr lang="en-US" altLang="ko-KR" sz="1200" b="1" spc="-60" dirty="0" smtClean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KoPubWorld돋움체 Bold" panose="000008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b="1" spc="-60" dirty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KoPubWorld돋움체 Bold" panose="00000800000000000000" pitchFamily="2" charset="-127"/>
              </a:rPr>
              <a:t>개요 </a:t>
            </a:r>
            <a:endParaRPr lang="ko-KR" altLang="en-US" sz="1200" b="1" spc="-6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KoPubWorld돋움체 Bold" panose="00000800000000000000" pitchFamily="2" charset="-127"/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202891"/>
              </p:ext>
            </p:extLst>
          </p:nvPr>
        </p:nvGraphicFramePr>
        <p:xfrm>
          <a:off x="1166167" y="3839084"/>
          <a:ext cx="3733638" cy="1799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18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90114"/>
                <a:gridCol w="69011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9011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90114"/>
              </a:tblGrid>
              <a:tr h="2998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구 분 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2025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 3H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2024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2023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2022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98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매출액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92,626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104,269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69,346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79,616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98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영업이익 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(1,308)</a:t>
                      </a:r>
                      <a:endParaRPr lang="en-US" altLang="ko-KR" sz="1100" b="0" i="0" u="none" strike="noStrike" dirty="0"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KoPubWorld돋움체 Light" panose="00000300000000000000" pitchFamily="2" charset="-127"/>
                        </a:rPr>
                        <a:t>1,242</a:t>
                      </a:r>
                      <a:endParaRPr lang="en-US" altLang="ko-KR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(3,369)</a:t>
                      </a:r>
                      <a:endParaRPr lang="en-US" altLang="ko-KR" sz="1100" b="0" i="0" u="none" strike="noStrike" dirty="0"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2,008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98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당기순이익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(1,189)</a:t>
                      </a:r>
                      <a:endParaRPr lang="en-US" altLang="ko-KR" sz="1100" b="0" i="0" u="none" strike="noStrike" dirty="0"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1,544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(5,384)</a:t>
                      </a:r>
                      <a:endParaRPr lang="en-US" altLang="ko-KR" sz="1100" b="0" i="0" u="none" strike="noStrike" dirty="0"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1,362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98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자산총액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39,575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38,451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26,861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31,304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98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부채총액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24,254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21,942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11,868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KoPubWorld돋움체 Light" panose="00000300000000000000" pitchFamily="2" charset="-127"/>
                        </a:rPr>
                        <a:t>9,833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KoPubWorld돋움체 Light" panose="00000300000000000000" pitchFamily="2" charset="-127"/>
                      </a:endParaRPr>
                    </a:p>
                  </a:txBody>
                  <a:tcPr marL="132923" marR="66462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>
            <a:off x="4134981" y="3623640"/>
            <a:ext cx="83816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kern="0" dirty="0" smtClean="0">
                <a:latin typeface="+mn-ea"/>
                <a:cs typeface="KoPubWorld돋움체 Light" panose="00000300000000000000" pitchFamily="2" charset="-127"/>
              </a:rPr>
              <a:t>(</a:t>
            </a:r>
            <a:r>
              <a:rPr lang="ko-KR" altLang="en-US" sz="800" kern="0" dirty="0" smtClean="0">
                <a:latin typeface="+mn-ea"/>
                <a:cs typeface="KoPubWorld돋움체 Light" panose="00000300000000000000" pitchFamily="2" charset="-127"/>
              </a:rPr>
              <a:t>단위 </a:t>
            </a:r>
            <a:r>
              <a:rPr lang="en-US" altLang="ko-KR" sz="800" kern="0" dirty="0">
                <a:latin typeface="+mn-ea"/>
                <a:cs typeface="KoPubWorld돋움체 Light" panose="00000300000000000000" pitchFamily="2" charset="-127"/>
              </a:rPr>
              <a:t>: </a:t>
            </a:r>
            <a:r>
              <a:rPr lang="ko-KR" altLang="en-US" sz="800" kern="0" dirty="0" err="1" smtClean="0">
                <a:latin typeface="+mn-ea"/>
                <a:cs typeface="KoPubWorld돋움체 Light" panose="00000300000000000000" pitchFamily="2" charset="-127"/>
              </a:rPr>
              <a:t>백만원</a:t>
            </a:r>
            <a:r>
              <a:rPr lang="en-US" altLang="ko-KR" sz="800" kern="0" dirty="0" smtClean="0">
                <a:latin typeface="+mn-ea"/>
                <a:cs typeface="KoPubWorld돋움체 Light" panose="00000300000000000000" pitchFamily="2" charset="-127"/>
              </a:rPr>
              <a:t>)</a:t>
            </a:r>
            <a:endParaRPr lang="ko-KR" altLang="en-US" sz="800" dirty="0">
              <a:latin typeface="+mn-ea"/>
            </a:endParaRPr>
          </a:p>
        </p:txBody>
      </p:sp>
      <p:sp>
        <p:nvSpPr>
          <p:cNvPr id="23" name="Google Shape;100;p3"/>
          <p:cNvSpPr txBox="1"/>
          <p:nvPr/>
        </p:nvSpPr>
        <p:spPr>
          <a:xfrm>
            <a:off x="91478" y="132337"/>
            <a:ext cx="6194691" cy="351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266" tIns="37122" rIns="74266" bIns="37122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ko-KR" altLang="en-US" dirty="0" err="1" smtClean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sym typeface="Malgun Gothic"/>
              </a:rPr>
              <a:t>환경이엔지</a:t>
            </a:r>
            <a:endParaRPr dirty="0">
              <a:solidFill>
                <a:srgbClr val="595959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300" y="1080818"/>
            <a:ext cx="1802582" cy="415595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FB7FA53D-D88D-41BA-9FBD-21E4F16DE9DB}"/>
              </a:ext>
            </a:extLst>
          </p:cNvPr>
          <p:cNvSpPr/>
          <p:nvPr/>
        </p:nvSpPr>
        <p:spPr>
          <a:xfrm>
            <a:off x="5051083" y="1036331"/>
            <a:ext cx="792000" cy="2983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spc="-60" dirty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KoPubWorld돋움체 Bold" panose="00000800000000000000" pitchFamily="2" charset="-127"/>
              </a:rPr>
              <a:t>핵심</a:t>
            </a:r>
            <a:endParaRPr lang="en-US" altLang="ko-KR" sz="1200" b="1" spc="-60" dirty="0" smtClean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KoPubWorld돋움체 Bold" panose="000008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b="1" spc="-60" dirty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KoPubWorld돋움체 Bold" panose="00000800000000000000" pitchFamily="2" charset="-127"/>
              </a:rPr>
              <a:t>경쟁력</a:t>
            </a:r>
            <a:endParaRPr lang="en-US" altLang="ko-KR" sz="1200" b="1" spc="-60" dirty="0" smtClean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931339" y="1418510"/>
            <a:ext cx="3672000" cy="100800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anchor="ctr" anchorCtr="0">
            <a:noAutofit/>
          </a:bodyPr>
          <a:lstStyle/>
          <a:p>
            <a:pPr marL="171450" indent="-171450" fontAlgn="base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100" u="sng" kern="0" dirty="0" err="1" smtClean="0">
                <a:latin typeface="+mj-ea"/>
                <a:cs typeface="KoPubWorld돋움체 Light" panose="00000300000000000000" pitchFamily="2" charset="-127"/>
              </a:rPr>
              <a:t>대형건설사</a:t>
            </a:r>
            <a:r>
              <a:rPr lang="ko-KR" altLang="en-US" sz="1100" u="sng" kern="0" dirty="0" smtClean="0">
                <a:latin typeface="+mj-ea"/>
                <a:cs typeface="KoPubWorld돋움체 Light" panose="00000300000000000000" pitchFamily="2" charset="-127"/>
              </a:rPr>
              <a:t> 우수 협력업체로 수주 지속</a:t>
            </a:r>
            <a:endParaRPr lang="en-US" altLang="ko-KR" sz="1100" u="sng" kern="0" dirty="0" smtClean="0">
              <a:latin typeface="+mj-ea"/>
              <a:cs typeface="KoPubWorld돋움체 Light" panose="00000300000000000000" pitchFamily="2" charset="-127"/>
            </a:endParaRPr>
          </a:p>
          <a:p>
            <a:pPr marL="171450" indent="-171450" fontAlgn="base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100" kern="0" dirty="0" smtClean="0">
                <a:latin typeface="+mj-ea"/>
                <a:cs typeface="KoPubWorld돋움체 Light" panose="00000300000000000000" pitchFamily="2" charset="-127"/>
              </a:rPr>
              <a:t>아파트</a:t>
            </a:r>
            <a:r>
              <a:rPr lang="en-US" altLang="ko-KR" sz="1100" kern="0" dirty="0" smtClean="0">
                <a:latin typeface="+mj-ea"/>
                <a:cs typeface="KoPubWorld돋움체 Light" panose="00000300000000000000" pitchFamily="2" charset="-127"/>
              </a:rPr>
              <a:t>, </a:t>
            </a:r>
            <a:r>
              <a:rPr lang="ko-KR" altLang="en-US" sz="1100" kern="0" dirty="0" smtClean="0">
                <a:latin typeface="+mj-ea"/>
                <a:cs typeface="KoPubWorld돋움체 Light" panose="00000300000000000000" pitchFamily="2" charset="-127"/>
              </a:rPr>
              <a:t>병원</a:t>
            </a:r>
            <a:r>
              <a:rPr lang="en-US" altLang="ko-KR" sz="1100" kern="0" dirty="0" smtClean="0">
                <a:latin typeface="+mj-ea"/>
                <a:cs typeface="KoPubWorld돋움체 Light" panose="00000300000000000000" pitchFamily="2" charset="-127"/>
              </a:rPr>
              <a:t>,</a:t>
            </a:r>
            <a:r>
              <a:rPr lang="ko-KR" altLang="en-US" sz="1100" kern="0" dirty="0">
                <a:latin typeface="+mj-ea"/>
                <a:cs typeface="KoPubWorld돋움체 Light" panose="00000300000000000000" pitchFamily="2" charset="-127"/>
              </a:rPr>
              <a:t> </a:t>
            </a:r>
            <a:r>
              <a:rPr lang="ko-KR" altLang="en-US" sz="1100" kern="0" dirty="0" smtClean="0">
                <a:latin typeface="+mj-ea"/>
                <a:cs typeface="KoPubWorld돋움체 Light" panose="00000300000000000000" pitchFamily="2" charset="-127"/>
              </a:rPr>
              <a:t>쇼핑몰 등 대형 건설 프로젝트 </a:t>
            </a:r>
            <a:r>
              <a:rPr lang="ko-KR" altLang="en-US" sz="1100" kern="0" dirty="0" err="1" smtClean="0">
                <a:latin typeface="+mj-ea"/>
                <a:cs typeface="KoPubWorld돋움체 Light" panose="00000300000000000000" pitchFamily="2" charset="-127"/>
              </a:rPr>
              <a:t>레퍼런스</a:t>
            </a:r>
            <a:r>
              <a:rPr lang="ko-KR" altLang="en-US" sz="1100" kern="0" dirty="0" smtClean="0">
                <a:latin typeface="+mj-ea"/>
                <a:cs typeface="KoPubWorld돋움체 Light" panose="00000300000000000000" pitchFamily="2" charset="-127"/>
              </a:rPr>
              <a:t> 보유</a:t>
            </a:r>
            <a:endParaRPr lang="en-US" altLang="ko-KR" sz="1100" kern="0" dirty="0" smtClean="0">
              <a:latin typeface="+mj-ea"/>
              <a:cs typeface="KoPubWorld돋움체 Light" panose="00000300000000000000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FB7FA53D-D88D-41BA-9FBD-21E4F16DE9DB}"/>
              </a:ext>
            </a:extLst>
          </p:cNvPr>
          <p:cNvSpPr/>
          <p:nvPr/>
        </p:nvSpPr>
        <p:spPr>
          <a:xfrm>
            <a:off x="5927356" y="1042645"/>
            <a:ext cx="3672000" cy="324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0" rIns="180000" bIns="0" rtlCol="0" anchor="ctr"/>
          <a:lstStyle/>
          <a:p>
            <a:r>
              <a:rPr lang="ko-KR" altLang="en-US" sz="1200" b="1" spc="-60" dirty="0" err="1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KoPubWorld돋움체 Bold" panose="00000800000000000000" pitchFamily="2" charset="-127"/>
              </a:rPr>
              <a:t>대형건설사</a:t>
            </a:r>
            <a:r>
              <a:rPr lang="ko-KR" altLang="en-US" sz="1200" b="1" spc="-60" dirty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KoPubWorld돋움체 Bold" panose="00000800000000000000" pitchFamily="2" charset="-127"/>
              </a:rPr>
              <a:t> 대상 검증된 시공능력</a:t>
            </a:r>
            <a:endParaRPr lang="en-US" altLang="ko-KR" sz="1200" b="1" spc="-60" dirty="0" smtClean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KoPubWorld돋움체 Bold" panose="00000800000000000000" pitchFamily="2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931339" y="2984285"/>
            <a:ext cx="3672000" cy="100800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anchor="ctr" anchorCtr="0">
            <a:noAutofit/>
          </a:bodyPr>
          <a:lstStyle/>
          <a:p>
            <a:pPr marL="171450" indent="-171450" fontAlgn="base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100" u="sng" kern="0" dirty="0" smtClean="0">
                <a:latin typeface="+mj-ea"/>
                <a:cs typeface="KoPubWorld돋움체 Light" panose="00000300000000000000" pitchFamily="2" charset="-127"/>
              </a:rPr>
              <a:t>2025</a:t>
            </a:r>
            <a:r>
              <a:rPr lang="ko-KR" altLang="en-US" sz="1100" u="sng" kern="0" dirty="0" smtClean="0">
                <a:latin typeface="+mj-ea"/>
                <a:cs typeface="KoPubWorld돋움체 Light" panose="00000300000000000000" pitchFamily="2" charset="-127"/>
              </a:rPr>
              <a:t>년 연간 기준 사상 최대 매출 전망</a:t>
            </a:r>
            <a:endParaRPr lang="en-US" altLang="ko-KR" sz="1100" u="sng" kern="0" dirty="0" smtClean="0">
              <a:latin typeface="+mj-ea"/>
              <a:ea typeface="+mj-ea"/>
              <a:cs typeface="KoPubWorld돋움체 Light" panose="00000300000000000000" pitchFamily="2" charset="-127"/>
            </a:endParaRPr>
          </a:p>
          <a:p>
            <a:pPr marL="171450" indent="-171450" fontAlgn="base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CAPEX </a:t>
            </a:r>
            <a:r>
              <a:rPr lang="ko-KR" altLang="en-US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부담이 낮은 </a:t>
            </a:r>
            <a:r>
              <a:rPr lang="ko-KR" altLang="en-US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시공 중심의 </a:t>
            </a:r>
            <a:r>
              <a:rPr lang="en-US" altLang="ko-KR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B2B </a:t>
            </a:r>
            <a:r>
              <a:rPr lang="ko-KR" altLang="en-US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수익구조</a:t>
            </a:r>
            <a:endParaRPr lang="en-US" altLang="ko-KR" sz="1100" kern="0" dirty="0" smtClean="0">
              <a:latin typeface="+mj-ea"/>
              <a:ea typeface="+mj-ea"/>
              <a:cs typeface="KoPubWorld돋움체 Light" panose="00000300000000000000" pitchFamily="2" charset="-127"/>
            </a:endParaRPr>
          </a:p>
          <a:p>
            <a:pPr marL="171450" indent="-171450" fontAlgn="base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100" kern="0" dirty="0" smtClean="0">
                <a:latin typeface="+mj-ea"/>
                <a:ea typeface="+mj-ea"/>
                <a:cs typeface="KoPubWorld돋움체 Light" panose="00000300000000000000" pitchFamily="2" charset="-127"/>
              </a:rPr>
              <a:t>예측 가능한 현금흐름 구조 확립</a:t>
            </a:r>
            <a:endParaRPr lang="en-US" altLang="ko-KR" sz="1100" kern="0" dirty="0" smtClean="0">
              <a:latin typeface="+mj-ea"/>
              <a:ea typeface="+mj-ea"/>
              <a:cs typeface="KoPubWorld돋움체 Light" panose="00000300000000000000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="" xmlns:a16="http://schemas.microsoft.com/office/drawing/2014/main" id="{FB7FA53D-D88D-41BA-9FBD-21E4F16DE9DB}"/>
              </a:ext>
            </a:extLst>
          </p:cNvPr>
          <p:cNvSpPr/>
          <p:nvPr/>
        </p:nvSpPr>
        <p:spPr>
          <a:xfrm>
            <a:off x="5927356" y="2607194"/>
            <a:ext cx="3672000" cy="324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0" rIns="180000" bIns="0" rtlCol="0" anchor="ctr"/>
          <a:lstStyle/>
          <a:p>
            <a:r>
              <a:rPr lang="ko-KR" altLang="en-US" sz="1200" b="1" spc="-60" dirty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KoPubWorld돋움체 Bold" panose="00000800000000000000" pitchFamily="2" charset="-127"/>
              </a:rPr>
              <a:t>안정적인 사업 및 수익 구조</a:t>
            </a:r>
            <a:endParaRPr lang="en-US" altLang="ko-KR" sz="1200" b="1" spc="-60" dirty="0" smtClean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KoPubWorld돋움체 Bold" panose="00000800000000000000" pitchFamily="2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815709" y="1068394"/>
            <a:ext cx="457200" cy="270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 smtClean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HY헤드라인M" panose="02030600000101010101" pitchFamily="18" charset="-127"/>
              </a:rPr>
              <a:t>1</a:t>
            </a:r>
            <a:endParaRPr lang="ko-KR" altLang="en-US" sz="2000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815709" y="2620047"/>
            <a:ext cx="457200" cy="2700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 smtClean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HY헤드라인M" panose="02030600000101010101" pitchFamily="18" charset="-127"/>
              </a:rPr>
              <a:t>2</a:t>
            </a:r>
            <a:endParaRPr lang="ko-KR" altLang="en-US" sz="2000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="" xmlns:a16="http://schemas.microsoft.com/office/drawing/2014/main" id="{FB7FA53D-D88D-41BA-9FBD-21E4F16DE9DB}"/>
              </a:ext>
            </a:extLst>
          </p:cNvPr>
          <p:cNvSpPr/>
          <p:nvPr/>
        </p:nvSpPr>
        <p:spPr>
          <a:xfrm>
            <a:off x="232953" y="3567020"/>
            <a:ext cx="792000" cy="27439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spc="-60" dirty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KoPubWorld돋움체 Bold" panose="00000800000000000000" pitchFamily="2" charset="-127"/>
              </a:rPr>
              <a:t>핵심</a:t>
            </a:r>
            <a:endParaRPr lang="en-US" altLang="ko-KR" sz="1200" b="1" spc="-60" dirty="0" smtClean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KoPubWorld돋움체 Bold" panose="000008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b="1" spc="-60" dirty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KoPubWorld돋움체 Bold" panose="00000800000000000000" pitchFamily="2" charset="-127"/>
              </a:rPr>
              <a:t>경쟁력</a:t>
            </a:r>
            <a:endParaRPr lang="en-US" altLang="ko-KR" sz="1200" b="1" spc="-60" dirty="0" smtClean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KoPubWorld돋움체 Bold" panose="00000800000000000000" pitchFamily="2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123036" y="3555029"/>
            <a:ext cx="3829964" cy="2755894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anchor="ctr" anchorCtr="0">
            <a:noAutofit/>
          </a:bodyPr>
          <a:lstStyle/>
          <a:p>
            <a:pPr marL="132926" indent="-132926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kern="0" dirty="0" smtClean="0">
              <a:latin typeface="+mj-ea"/>
              <a:cs typeface="KoPubWorld돋움체 Light" panose="00000300000000000000" pitchFamily="2" charset="-127"/>
            </a:endParaRPr>
          </a:p>
          <a:p>
            <a:pPr marL="132926" indent="-132926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kern="0" dirty="0">
              <a:latin typeface="+mj-ea"/>
              <a:cs typeface="KoPubWorld돋움체 Light" panose="00000300000000000000" pitchFamily="2" charset="-127"/>
            </a:endParaRPr>
          </a:p>
          <a:p>
            <a:pPr marL="132926" indent="-132926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kern="0" dirty="0" smtClean="0">
              <a:latin typeface="+mj-ea"/>
              <a:cs typeface="KoPubWorld돋움체 Light" panose="00000300000000000000" pitchFamily="2" charset="-127"/>
            </a:endParaRPr>
          </a:p>
          <a:p>
            <a:pPr marL="132926" indent="-132926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kern="0" dirty="0">
              <a:latin typeface="+mj-ea"/>
              <a:cs typeface="KoPubWorld돋움체 Light" panose="00000300000000000000" pitchFamily="2" charset="-127"/>
            </a:endParaRPr>
          </a:p>
          <a:p>
            <a:pPr marL="132926" indent="-132926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kern="0" dirty="0" smtClean="0">
              <a:latin typeface="+mj-ea"/>
              <a:cs typeface="KoPubWorld돋움체 Light" panose="00000300000000000000" pitchFamily="2" charset="-127"/>
            </a:endParaRPr>
          </a:p>
          <a:p>
            <a:pPr marL="132926" indent="-132926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kern="0" dirty="0">
              <a:latin typeface="+mj-ea"/>
              <a:cs typeface="KoPubWorld돋움체 Light" panose="00000300000000000000" pitchFamily="2" charset="-127"/>
            </a:endParaRPr>
          </a:p>
          <a:p>
            <a:pPr marL="132926" indent="-132926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kern="0" dirty="0" smtClean="0">
              <a:latin typeface="+mj-ea"/>
              <a:cs typeface="KoPubWorld돋움체 Light" panose="00000300000000000000" pitchFamily="2" charset="-127"/>
            </a:endParaRPr>
          </a:p>
          <a:p>
            <a:pPr marL="132926" indent="-132926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kern="0" dirty="0" smtClean="0">
                <a:latin typeface="+mj-ea"/>
                <a:cs typeface="KoPubWorld돋움체 Light" panose="00000300000000000000" pitchFamily="2" charset="-127"/>
              </a:rPr>
              <a:t>2025</a:t>
            </a:r>
            <a:r>
              <a:rPr lang="ko-KR" altLang="en-US" sz="1100" kern="0" dirty="0">
                <a:latin typeface="+mj-ea"/>
                <a:cs typeface="KoPubWorld돋움체 Light" panose="00000300000000000000" pitchFamily="2" charset="-127"/>
              </a:rPr>
              <a:t>년 연간 최대 매출 달성 전망</a:t>
            </a:r>
            <a:endParaRPr lang="en-US" altLang="ko-KR" sz="1100" kern="0" dirty="0">
              <a:latin typeface="+mj-ea"/>
              <a:cs typeface="KoPubWorld돋움체 Light" panose="00000300000000000000" pitchFamily="2" charset="-127"/>
            </a:endParaRPr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941" y="4445704"/>
            <a:ext cx="984108" cy="98410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063168" y="5524827"/>
            <a:ext cx="831654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dirty="0" smtClean="0">
                <a:solidFill>
                  <a:srgbClr val="333F50"/>
                </a:solidFill>
                <a:latin typeface="+mn-ea"/>
                <a:cs typeface="Aharoni" panose="02010803020104030203" pitchFamily="2" charset="-79"/>
              </a:rPr>
              <a:t>[</a:t>
            </a:r>
            <a:r>
              <a:rPr lang="ko-KR" altLang="en-US" sz="1100" dirty="0" smtClean="0">
                <a:solidFill>
                  <a:srgbClr val="333F50"/>
                </a:solidFill>
                <a:latin typeface="+mn-ea"/>
                <a:cs typeface="Aharoni" panose="02010803020104030203" pitchFamily="2" charset="-79"/>
              </a:rPr>
              <a:t>기계설비</a:t>
            </a:r>
            <a:r>
              <a:rPr lang="en-US" altLang="ko-KR" sz="1100" dirty="0" smtClean="0">
                <a:solidFill>
                  <a:srgbClr val="333F50"/>
                </a:solidFill>
                <a:latin typeface="+mn-ea"/>
                <a:cs typeface="Aharoni" panose="02010803020104030203" pitchFamily="2" charset="-79"/>
              </a:rPr>
              <a:t>]</a:t>
            </a:r>
            <a:endParaRPr lang="en-US" altLang="ko-KR" sz="1100" dirty="0" smtClean="0">
              <a:solidFill>
                <a:srgbClr val="333F50"/>
              </a:solidFill>
              <a:latin typeface="+mn-ea"/>
              <a:cs typeface="Aharoni" panose="02010803020104030203" pitchFamily="2" charset="-79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321959" y="5524828"/>
            <a:ext cx="882791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dirty="0" smtClean="0">
                <a:solidFill>
                  <a:srgbClr val="333F50"/>
                </a:solidFill>
                <a:latin typeface="+mn-ea"/>
                <a:cs typeface="Aharoni" panose="02010803020104030203" pitchFamily="2" charset="-79"/>
              </a:rPr>
              <a:t>[</a:t>
            </a:r>
            <a:r>
              <a:rPr lang="ko-KR" altLang="en-US" sz="1100" dirty="0" smtClean="0">
                <a:solidFill>
                  <a:srgbClr val="333F50"/>
                </a:solidFill>
                <a:latin typeface="+mn-ea"/>
                <a:cs typeface="Aharoni" panose="02010803020104030203" pitchFamily="2" charset="-79"/>
              </a:rPr>
              <a:t>소방설비</a:t>
            </a:r>
            <a:r>
              <a:rPr lang="en-US" altLang="ko-KR" sz="1100" dirty="0" smtClean="0">
                <a:solidFill>
                  <a:srgbClr val="333F50"/>
                </a:solidFill>
                <a:latin typeface="+mn-ea"/>
                <a:cs typeface="Aharoni" panose="02010803020104030203" pitchFamily="2" charset="-79"/>
              </a:rPr>
              <a:t>]</a:t>
            </a:r>
            <a:endParaRPr lang="en-US" altLang="ko-KR" sz="1100" dirty="0" smtClean="0">
              <a:solidFill>
                <a:srgbClr val="333F50"/>
              </a:solidFill>
              <a:latin typeface="+mn-ea"/>
              <a:cs typeface="Aharoni" panose="02010803020104030203" pitchFamily="2" charset="-79"/>
            </a:endParaRP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301" y="4445703"/>
            <a:ext cx="984109" cy="984109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069" y="4445703"/>
            <a:ext cx="978809" cy="97880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350370" y="5524829"/>
            <a:ext cx="1354348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dirty="0" smtClean="0">
                <a:solidFill>
                  <a:srgbClr val="333F50"/>
                </a:solidFill>
                <a:latin typeface="+mn-ea"/>
                <a:cs typeface="Aharoni" panose="02010803020104030203" pitchFamily="2" charset="-79"/>
              </a:rPr>
              <a:t>[</a:t>
            </a:r>
            <a:r>
              <a:rPr lang="ko-KR" altLang="en-US" sz="1100" dirty="0" smtClean="0">
                <a:solidFill>
                  <a:srgbClr val="333F50"/>
                </a:solidFill>
                <a:latin typeface="+mn-ea"/>
                <a:cs typeface="Aharoni" panose="02010803020104030203" pitchFamily="2" charset="-79"/>
              </a:rPr>
              <a:t>시설물유지관리</a:t>
            </a:r>
            <a:r>
              <a:rPr lang="en-US" altLang="ko-KR" sz="1100" dirty="0" smtClean="0">
                <a:solidFill>
                  <a:srgbClr val="333F50"/>
                </a:solidFill>
                <a:latin typeface="+mn-ea"/>
                <a:cs typeface="Aharoni" panose="02010803020104030203" pitchFamily="2" charset="-79"/>
              </a:rPr>
              <a:t>]</a:t>
            </a:r>
            <a:endParaRPr lang="en-US" altLang="ko-KR" sz="1100" dirty="0" smtClean="0">
              <a:solidFill>
                <a:srgbClr val="333F50"/>
              </a:solidFill>
              <a:latin typeface="+mn-ea"/>
              <a:cs typeface="Aharoni" panose="02010803020104030203" pitchFamily="2" charset="-79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="" xmlns:a16="http://schemas.microsoft.com/office/drawing/2014/main" id="{FB7FA53D-D88D-41BA-9FBD-21E4F16DE9DB}"/>
              </a:ext>
            </a:extLst>
          </p:cNvPr>
          <p:cNvSpPr/>
          <p:nvPr/>
        </p:nvSpPr>
        <p:spPr>
          <a:xfrm>
            <a:off x="5051083" y="4105126"/>
            <a:ext cx="792000" cy="2205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spc="-60" dirty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KoPubWorld돋움체 Bold" panose="00000800000000000000" pitchFamily="2" charset="-127"/>
              </a:rPr>
              <a:t>사업</a:t>
            </a:r>
            <a:endParaRPr lang="en-US" altLang="ko-KR" sz="1200" b="1" spc="-60" dirty="0" smtClean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KoPubWorld돋움체 Bold" panose="000008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b="1" spc="-60" dirty="0" smtClean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KoPubWorld돋움체 Bold" panose="00000800000000000000" pitchFamily="2" charset="-127"/>
              </a:rPr>
              <a:t>영역</a:t>
            </a:r>
            <a:endParaRPr lang="en-US" altLang="ko-KR" sz="1200" b="1" spc="-60" dirty="0" smtClean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458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2908</TotalTime>
  <Words>146</Words>
  <Application>Microsoft Office PowerPoint</Application>
  <PresentationFormat>A4 용지(210x297mm)</PresentationFormat>
  <Paragraphs>67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4" baseType="lpstr">
      <vt:lpstr>Aharoni</vt:lpstr>
      <vt:lpstr>HY중고딕</vt:lpstr>
      <vt:lpstr>HY헤드라인M</vt:lpstr>
      <vt:lpstr>KoPubWorld돋움체 Bold</vt:lpstr>
      <vt:lpstr>KoPubWorld돋움체 Light</vt:lpstr>
      <vt:lpstr>맑은 고딕</vt:lpstr>
      <vt:lpstr>맑은 고딕</vt:lpstr>
      <vt:lpstr>Arial</vt:lpstr>
      <vt:lpstr>Calibri</vt:lpstr>
      <vt:lpstr>Calibri Light</vt:lpstr>
      <vt:lpstr>Impact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Cellumed</dc:creator>
  <cp:lastModifiedBy>Cellumed</cp:lastModifiedBy>
  <cp:revision>203</cp:revision>
  <cp:lastPrinted>2024-11-26T01:05:57Z</cp:lastPrinted>
  <dcterms:created xsi:type="dcterms:W3CDTF">2024-11-20T04:50:05Z</dcterms:created>
  <dcterms:modified xsi:type="dcterms:W3CDTF">2025-11-03T07:10:54Z</dcterms:modified>
</cp:coreProperties>
</file>