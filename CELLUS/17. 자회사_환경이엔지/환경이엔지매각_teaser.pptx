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"/>
  </p:notesMasterIdLst>
  <p:sldIdLst>
    <p:sldId id="2150" r:id="rId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C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AA16C-C6C5-4E4F-9032-A333B8D338BC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49B3E-1DF1-41BC-BA23-070D1F2658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98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29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16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59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74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90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0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1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953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8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96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220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6">
            <a:extLst>
              <a:ext uri="{FF2B5EF4-FFF2-40B4-BE49-F238E27FC236}">
                <a16:creationId xmlns:a16="http://schemas.microsoft.com/office/drawing/2014/main" xmlns="" id="{33C6E8A9-925F-B9D2-88F8-606F6D64C8AC}"/>
              </a:ext>
            </a:extLst>
          </p:cNvPr>
          <p:cNvGrpSpPr/>
          <p:nvPr userDrawn="1"/>
        </p:nvGrpSpPr>
        <p:grpSpPr>
          <a:xfrm flipV="1">
            <a:off x="103824" y="500436"/>
            <a:ext cx="9699624" cy="52755"/>
            <a:chOff x="271681" y="520382"/>
            <a:chExt cx="8600638" cy="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xmlns="" id="{8791B6F5-923F-87A6-D9A7-8B46691A138D}"/>
                </a:ext>
              </a:extLst>
            </p:cNvPr>
            <p:cNvCxnSpPr/>
            <p:nvPr/>
          </p:nvCxnSpPr>
          <p:spPr>
            <a:xfrm>
              <a:off x="271681" y="520382"/>
              <a:ext cx="4300319" cy="0"/>
            </a:xfrm>
            <a:prstGeom prst="line">
              <a:avLst/>
            </a:prstGeom>
            <a:ln w="44450" cmpd="thickThin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xmlns="" id="{FAD949DD-01C2-A64E-9571-0B04E5207C58}"/>
                </a:ext>
              </a:extLst>
            </p:cNvPr>
            <p:cNvCxnSpPr/>
            <p:nvPr/>
          </p:nvCxnSpPr>
          <p:spPr>
            <a:xfrm>
              <a:off x="4572000" y="520382"/>
              <a:ext cx="4300319" cy="0"/>
            </a:xfrm>
            <a:prstGeom prst="line">
              <a:avLst/>
            </a:prstGeom>
            <a:ln w="44450" cmpd="thickThin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69"/>
          <p:cNvSpPr>
            <a:spLocks noChangeArrowheads="1"/>
          </p:cNvSpPr>
          <p:nvPr userDrawn="1"/>
        </p:nvSpPr>
        <p:spPr bwMode="auto">
          <a:xfrm>
            <a:off x="9194089" y="6579484"/>
            <a:ext cx="661943" cy="235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/>
          <a:lstStyle/>
          <a:p>
            <a:pPr algn="r">
              <a:defRPr/>
            </a:pPr>
            <a:r>
              <a:rPr lang="en-US" altLang="ko-KR" sz="7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[ </a:t>
            </a:r>
            <a:fld id="{7F8EB168-2C36-43C7-9A20-885AA2FD33D2}" type="slidenum">
              <a:rPr lang="en-US" altLang="ko-KR" sz="700" b="0" i="1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pPr algn="r">
                <a:defRPr/>
              </a:pPr>
              <a:t>‹#›</a:t>
            </a:fld>
            <a:r>
              <a:rPr lang="en-US" altLang="ko-KR" sz="7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700" b="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]</a:t>
            </a:r>
            <a:endParaRPr lang="en-US" altLang="ko-KR" sz="700" b="0" i="1" dirty="0">
              <a:solidFill>
                <a:schemeClr val="tx1">
                  <a:lumMod val="50000"/>
                  <a:lumOff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61211" y="58408"/>
            <a:ext cx="1161287" cy="4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9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9FB4-B4C9-4F58-824E-48881C686A04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82C59-91DF-4BC0-9583-99B0B5ECD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15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4775" y="85725"/>
            <a:ext cx="7437738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환경이엔지</a:t>
            </a:r>
            <a:r>
              <a:rPr lang="ko-KR" altLang="en-US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개요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949160"/>
              </p:ext>
            </p:extLst>
          </p:nvPr>
        </p:nvGraphicFramePr>
        <p:xfrm>
          <a:off x="603850" y="1270085"/>
          <a:ext cx="4209691" cy="4931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738"/>
                <a:gridCol w="3308953"/>
              </a:tblGrid>
              <a:tr h="3829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법인명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환경이엔지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설립일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1979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학동로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401,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금하빌딩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주요사업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기계설비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대표이사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유창수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주주구성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셀루메드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97.3%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자사주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2.7%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170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자본금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액면가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5,000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발행주식총수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300,000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임직원수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46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(2024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기준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홈페이지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www.hk-eng.com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108000" marT="72000" marB="72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5266425" y="1270085"/>
            <a:ext cx="4024223" cy="2085589"/>
          </a:xfrm>
          <a:prstGeom prst="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기계설비 분야 우수 시공능력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보유</a:t>
            </a:r>
            <a:endParaRPr lang="en-US" altLang="ko-KR" sz="13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대형 </a:t>
            </a:r>
            <a:r>
              <a:rPr lang="ko-KR" altLang="en-US" sz="1300" dirty="0" err="1" smtClean="0">
                <a:solidFill>
                  <a:schemeClr val="tx1"/>
                </a:solidFill>
                <a:latin typeface="+mn-ea"/>
              </a:rPr>
              <a:t>건설사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 우수 </a:t>
            </a:r>
            <a:r>
              <a:rPr lang="ko-KR" altLang="en-US" sz="1300" dirty="0" err="1" smtClean="0">
                <a:solidFill>
                  <a:schemeClr val="tx1"/>
                </a:solidFill>
                <a:latin typeface="+mn-ea"/>
              </a:rPr>
              <a:t>협력사</a:t>
            </a:r>
            <a:r>
              <a:rPr lang="ko-KR" altLang="en-US" sz="13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지정 및 수주 </a:t>
            </a:r>
            <a:endParaRPr lang="en-US" altLang="ko-KR" sz="13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    (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대우건설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, GS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건설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300" dirty="0" err="1" smtClean="0">
                <a:solidFill>
                  <a:schemeClr val="tx1"/>
                </a:solidFill>
                <a:latin typeface="+mn-ea"/>
              </a:rPr>
              <a:t>롯대건설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 등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3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2024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년 수주 총액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: 843</a:t>
            </a:r>
            <a:r>
              <a:rPr lang="ko-KR" altLang="en-US" sz="1300" dirty="0" err="1" smtClean="0">
                <a:solidFill>
                  <a:schemeClr val="tx1"/>
                </a:solidFill>
                <a:latin typeface="+mn-ea"/>
              </a:rPr>
              <a:t>억원</a:t>
            </a:r>
            <a:endParaRPr lang="en-US" altLang="ko-KR" sz="1300" dirty="0" smtClean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수주잔고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1,400</a:t>
            </a:r>
            <a:r>
              <a:rPr lang="ko-KR" altLang="en-US" sz="1300" dirty="0" err="1" smtClean="0">
                <a:solidFill>
                  <a:schemeClr val="tx1"/>
                </a:solidFill>
                <a:latin typeface="+mn-ea"/>
              </a:rPr>
              <a:t>억원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(2024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년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12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31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일 기준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807899"/>
              </p:ext>
            </p:extLst>
          </p:nvPr>
        </p:nvGraphicFramePr>
        <p:xfrm>
          <a:off x="5266424" y="3717983"/>
          <a:ext cx="4024224" cy="24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056"/>
                <a:gridCol w="1006056"/>
                <a:gridCol w="1006056"/>
                <a:gridCol w="1006056"/>
              </a:tblGrid>
              <a:tr h="34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 (E)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매출액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104,269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69,347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79,616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영업이익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1,242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(3,369)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noFill/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당기순이익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1,269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(5,384)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1,362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자산총계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38,267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26,861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31,304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부채총계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21,942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11,869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9,833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noFill/>
                  </a:tcPr>
                </a:tc>
              </a:tr>
              <a:tr h="34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자본총계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16,325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14,992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21,471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236228" y="4056476"/>
            <a:ext cx="4071672" cy="36887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628773" y="3477471"/>
            <a:ext cx="1748135" cy="21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단위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100" dirty="0" err="1" smtClean="0">
                <a:solidFill>
                  <a:schemeClr val="tx1"/>
                </a:solidFill>
                <a:latin typeface="+mn-ea"/>
              </a:rPr>
              <a:t>백만원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24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9643</TotalTime>
  <Words>145</Words>
  <Application>Microsoft Office PowerPoint</Application>
  <PresentationFormat>A4 용지(210x297mm)</PresentationFormat>
  <Paragraphs>56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HY중고딕</vt:lpstr>
      <vt:lpstr>HY헤드라인M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Young-ju Shim</dc:creator>
  <cp:lastModifiedBy>Cellumed</cp:lastModifiedBy>
  <cp:revision>1018</cp:revision>
  <cp:lastPrinted>2025-02-06T05:21:17Z</cp:lastPrinted>
  <dcterms:created xsi:type="dcterms:W3CDTF">2023-05-26T05:08:08Z</dcterms:created>
  <dcterms:modified xsi:type="dcterms:W3CDTF">2025-02-21T06:42:47Z</dcterms:modified>
</cp:coreProperties>
</file>